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embeddedFontLst>
    <p:embeddedFont>
      <p:font typeface="Arial Black" panose="020B0604020202020204" pitchFamily="34" charset="0"/>
      <p:regular r:id="rId9"/>
      <p:bold r:id="rId10"/>
    </p:embeddedFont>
    <p:embeddedFont>
      <p:font typeface="Montserrat" pitchFamily="2" charset="77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gzos+FCurGNRCG1PLEGw6UF1kJ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1A46"/>
    <a:srgbClr val="FEFEFE"/>
    <a:srgbClr val="FDFDFD"/>
    <a:srgbClr val="343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5850DEF-275C-4A7F-8C00-A23EA184C444}">
  <a:tblStyle styleId="{85850DEF-275C-4A7F-8C00-A23EA184C44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41"/>
  </p:normalViewPr>
  <p:slideViewPr>
    <p:cSldViewPr snapToGrid="0">
      <p:cViewPr varScale="1">
        <p:scale>
          <a:sx n="114" d="100"/>
          <a:sy n="114" d="100"/>
        </p:scale>
        <p:origin x="60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2" d="100"/>
          <a:sy n="82" d="100"/>
        </p:scale>
        <p:origin x="399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23" Type="http://customschemas.google.com/relationships/presentationmetadata" Target="metadata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243F80-7CD6-24A1-7648-898AB15F3F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028B5E-9FA0-4284-81E0-B525B9EC4E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E38BA-3852-6247-B240-30C6E7A7EEB4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380D0-8079-6585-FF8C-84DD950F7A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B23CF-1BE7-A946-5333-FE57F1F672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187E05-2548-BE42-B754-354846FB2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519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1524000" y="8048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EB05F4-A833-7F20-796B-26AEF4FD8C94}"/>
              </a:ext>
            </a:extLst>
          </p:cNvPr>
          <p:cNvGrpSpPr/>
          <p:nvPr userDrawn="1"/>
        </p:nvGrpSpPr>
        <p:grpSpPr>
          <a:xfrm>
            <a:off x="0" y="0"/>
            <a:ext cx="12192001" cy="876301"/>
            <a:chOff x="0" y="0"/>
            <a:chExt cx="12192001" cy="87630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0569B71-825A-F68C-A253-0A3EA94DE4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692400" cy="876300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0DD560D-39FB-3514-DE05-3C425D084B60}"/>
                </a:ext>
              </a:extLst>
            </p:cNvPr>
            <p:cNvSpPr/>
            <p:nvPr userDrawn="1"/>
          </p:nvSpPr>
          <p:spPr>
            <a:xfrm>
              <a:off x="2692401" y="2007"/>
              <a:ext cx="9499600" cy="874294"/>
            </a:xfrm>
            <a:prstGeom prst="rect">
              <a:avLst/>
            </a:prstGeom>
            <a:solidFill>
              <a:srgbClr val="3439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hyperlink" Target="https://github.com/r-isachenko/2026-DGM-AIMasters-cour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1F9D79-F342-ECAA-1301-A655B2FBBFA7}"/>
              </a:ext>
            </a:extLst>
          </p:cNvPr>
          <p:cNvSpPr/>
          <p:nvPr/>
        </p:nvSpPr>
        <p:spPr>
          <a:xfrm>
            <a:off x="0" y="888274"/>
            <a:ext cx="1449977" cy="5969726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E5398-9577-257E-316E-AA3F860C7F91}"/>
              </a:ext>
            </a:extLst>
          </p:cNvPr>
          <p:cNvGrpSpPr/>
          <p:nvPr/>
        </p:nvGrpSpPr>
        <p:grpSpPr>
          <a:xfrm>
            <a:off x="1449977" y="876699"/>
            <a:ext cx="10742023" cy="5969726"/>
            <a:chOff x="418011" y="3074756"/>
            <a:chExt cx="10742023" cy="5969726"/>
          </a:xfrm>
        </p:grpSpPr>
        <p:pic>
          <p:nvPicPr>
            <p:cNvPr id="89" name="Google Shape;89;p1"/>
            <p:cNvPicPr preferRelativeResize="0"/>
            <p:nvPr/>
          </p:nvPicPr>
          <p:blipFill rotWithShape="1">
            <a:blip r:embed="rId3">
              <a:alphaModFix/>
            </a:blip>
            <a:srcRect l="20615" t="21883" r="12347" b="11884"/>
            <a:stretch/>
          </p:blipFill>
          <p:spPr>
            <a:xfrm>
              <a:off x="418011" y="3074756"/>
              <a:ext cx="10742023" cy="5969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C7B14D3-7DC1-283B-04B3-6F3D8D8D8E08}"/>
                </a:ext>
              </a:extLst>
            </p:cNvPr>
            <p:cNvSpPr/>
            <p:nvPr/>
          </p:nvSpPr>
          <p:spPr>
            <a:xfrm>
              <a:off x="535577" y="3592286"/>
              <a:ext cx="3025888" cy="4310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Google Shape;94;p1"/>
          <p:cNvSpPr/>
          <p:nvPr/>
        </p:nvSpPr>
        <p:spPr>
          <a:xfrm>
            <a:off x="170865" y="6234668"/>
            <a:ext cx="6096000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СТАРТ КУРСА: 29.01.2025</a:t>
            </a:r>
            <a:r>
              <a:rPr lang="en-US" sz="1500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 (</a:t>
            </a:r>
            <a:r>
              <a:rPr lang="ru-RU" sz="1500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четверг</a:t>
            </a:r>
            <a:r>
              <a:rPr lang="en-US" sz="1500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)</a:t>
            </a:r>
            <a:endParaRPr sz="1100"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70865" y="1036131"/>
            <a:ext cx="6781200" cy="2357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 b="0" i="0" u="none" strike="noStrike" cap="none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ГЕНЕРАТИВНЫЕ МОДЕЛИ</a:t>
            </a:r>
            <a:endParaRPr lang="ru-RU" sz="4400" dirty="0">
              <a:solidFill>
                <a:srgbClr val="A41A46"/>
              </a:solidFill>
              <a:latin typeface="+mj-lt"/>
              <a:cs typeface="Arial Black"/>
              <a:sym typeface="Arial Black"/>
            </a:endParaRPr>
          </a:p>
          <a:p>
            <a:endParaRPr lang="ru-RU" dirty="0">
              <a:solidFill>
                <a:srgbClr val="0068B5"/>
              </a:solidFill>
              <a:latin typeface="+mj-lt"/>
            </a:endParaRPr>
          </a:p>
          <a:p>
            <a:r>
              <a:rPr lang="ru-RU" sz="1800" spc="-60" dirty="0">
                <a:latin typeface="+mj-lt"/>
                <a:cs typeface="Segoe UI" panose="020B0502040204020203" pitchFamily="34" charset="0"/>
              </a:rPr>
              <a:t>ЛЕКТОР: РОМАН ИСАЧЕНКО</a:t>
            </a:r>
            <a:endParaRPr lang="en-US" sz="1800" spc="-60" dirty="0">
              <a:latin typeface="+mj-lt"/>
              <a:cs typeface="Segoe UI" panose="020B0502040204020203" pitchFamily="34" charset="0"/>
            </a:endParaRPr>
          </a:p>
          <a:p>
            <a:r>
              <a:rPr lang="ru-RU" sz="1800" spc="-60" dirty="0">
                <a:latin typeface="+mj-lt"/>
                <a:cs typeface="Segoe UI" panose="020B0502040204020203" pitchFamily="34" charset="0"/>
              </a:rPr>
              <a:t>СЕМИНАРИСТ: МАТВЕЙ МОРОЗОВ</a:t>
            </a:r>
          </a:p>
          <a:p>
            <a:r>
              <a:rPr lang="ru-RU" sz="1800" spc="-60" dirty="0">
                <a:latin typeface="+mj-lt"/>
                <a:cs typeface="Segoe UI" panose="020B0502040204020203" pitchFamily="34" charset="0"/>
              </a:rPr>
              <a:t>ДОМАШКИ: ГРИГОРИЙ КСЕНОФОНТОВ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"/>
          <p:cNvPicPr preferRelativeResize="0"/>
          <p:nvPr/>
        </p:nvPicPr>
        <p:blipFill rotWithShape="1">
          <a:blip r:embed="rId3">
            <a:alphaModFix/>
          </a:blip>
          <a:srcRect l="43405" r="1639" b="3282"/>
          <a:stretch/>
        </p:blipFill>
        <p:spPr>
          <a:xfrm>
            <a:off x="3541568" y="1425605"/>
            <a:ext cx="3588222" cy="240724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"/>
          <p:cNvSpPr/>
          <p:nvPr/>
        </p:nvSpPr>
        <p:spPr>
          <a:xfrm>
            <a:off x="3525136" y="1049211"/>
            <a:ext cx="2203301" cy="27172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>
                <a:solidFill>
                  <a:schemeClr val="dk1"/>
                </a:solidFill>
                <a:latin typeface="+mj-lt"/>
                <a:ea typeface="Quattrocento Sans"/>
                <a:cs typeface="Quattrocento Sans"/>
                <a:sym typeface="Quattrocento Sans"/>
              </a:rPr>
              <a:t>Generative</a:t>
            </a:r>
            <a:r>
              <a:rPr lang="ru-RU" sz="1600" dirty="0">
                <a:solidFill>
                  <a:schemeClr val="dk1"/>
                </a:solidFill>
                <a:latin typeface="+mj-lt"/>
                <a:ea typeface="Quattrocento Sans"/>
                <a:cs typeface="Quattrocento Sans"/>
                <a:sym typeface="Quattrocento Sans"/>
              </a:rPr>
              <a:t> </a:t>
            </a:r>
            <a:r>
              <a:rPr lang="ru-RU" sz="1600" dirty="0" err="1">
                <a:solidFill>
                  <a:schemeClr val="dk1"/>
                </a:solidFill>
                <a:latin typeface="+mj-lt"/>
                <a:ea typeface="Quattrocento Sans"/>
                <a:cs typeface="Quattrocento Sans"/>
                <a:sym typeface="Quattrocento Sans"/>
              </a:rPr>
              <a:t>model</a:t>
            </a:r>
            <a:endParaRPr sz="1600" dirty="0">
              <a:solidFill>
                <a:schemeClr val="dk1"/>
              </a:solidFill>
              <a:latin typeface="+mj-lt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261343" y="4042202"/>
            <a:ext cx="7021200" cy="2751980"/>
          </a:xfrm>
          <a:prstGeom prst="roundRect">
            <a:avLst>
              <a:gd name="adj" fmla="val 1048"/>
            </a:avLst>
          </a:prstGeom>
          <a:noFill/>
          <a:ln w="9525" cap="flat" cmpd="sng">
            <a:solidFill>
              <a:srgbClr val="041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261344" y="976202"/>
            <a:ext cx="7021199" cy="2961327"/>
          </a:xfrm>
          <a:prstGeom prst="roundRect">
            <a:avLst>
              <a:gd name="adj" fmla="val 1048"/>
            </a:avLst>
          </a:pr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1C77113-7B30-63E5-8F26-81D9A2C4D437}"/>
              </a:ext>
            </a:extLst>
          </p:cNvPr>
          <p:cNvGrpSpPr/>
          <p:nvPr/>
        </p:nvGrpSpPr>
        <p:grpSpPr>
          <a:xfrm>
            <a:off x="321187" y="1301441"/>
            <a:ext cx="2816729" cy="2407248"/>
            <a:chOff x="315809" y="1252445"/>
            <a:chExt cx="2931611" cy="2505430"/>
          </a:xfrm>
        </p:grpSpPr>
        <p:pic>
          <p:nvPicPr>
            <p:cNvPr id="129" name="Google Shape;129;p3"/>
            <p:cNvPicPr preferRelativeResize="0"/>
            <p:nvPr/>
          </p:nvPicPr>
          <p:blipFill rotWithShape="1">
            <a:blip r:embed="rId3">
              <a:alphaModFix/>
            </a:blip>
            <a:srcRect l="3001" t="14597" r="64764" b="13133"/>
            <a:stretch/>
          </p:blipFill>
          <p:spPr>
            <a:xfrm>
              <a:off x="315809" y="1252445"/>
              <a:ext cx="2931611" cy="25054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029D7DE-31C7-34B0-F2FB-64BF36705AC1}"/>
                </a:ext>
              </a:extLst>
            </p:cNvPr>
            <p:cNvSpPr/>
            <p:nvPr/>
          </p:nvSpPr>
          <p:spPr>
            <a:xfrm>
              <a:off x="315809" y="1252445"/>
              <a:ext cx="1614591" cy="309655"/>
            </a:xfrm>
            <a:prstGeom prst="rect">
              <a:avLst/>
            </a:prstGeom>
            <a:solidFill>
              <a:srgbClr val="FEF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2" name="Google Shape;132;p3"/>
          <p:cNvSpPr/>
          <p:nvPr/>
        </p:nvSpPr>
        <p:spPr>
          <a:xfrm>
            <a:off x="338852" y="1056203"/>
            <a:ext cx="2203301" cy="27172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 err="1">
                <a:solidFill>
                  <a:schemeClr val="dk1"/>
                </a:solidFill>
                <a:latin typeface="+mj-lt"/>
                <a:ea typeface="Quattrocento Sans"/>
                <a:cs typeface="Quattrocento Sans"/>
                <a:sym typeface="Quattrocento Sans"/>
              </a:rPr>
              <a:t>Discriminat</a:t>
            </a:r>
            <a:r>
              <a:rPr lang="en-US" sz="1600" dirty="0" err="1">
                <a:solidFill>
                  <a:schemeClr val="dk1"/>
                </a:solidFill>
                <a:latin typeface="+mj-lt"/>
                <a:ea typeface="Quattrocento Sans"/>
                <a:cs typeface="Quattrocento Sans"/>
                <a:sym typeface="Quattrocento Sans"/>
              </a:rPr>
              <a:t>ive</a:t>
            </a:r>
            <a:r>
              <a:rPr lang="ru-RU" sz="1600" dirty="0">
                <a:solidFill>
                  <a:schemeClr val="dk1"/>
                </a:solidFill>
                <a:latin typeface="+mj-lt"/>
                <a:ea typeface="Quattrocento Sans"/>
                <a:cs typeface="Quattrocento Sans"/>
                <a:sym typeface="Quattrocento Sans"/>
              </a:rPr>
              <a:t> </a:t>
            </a:r>
            <a:r>
              <a:rPr lang="ru-RU" sz="1600" dirty="0" err="1">
                <a:solidFill>
                  <a:schemeClr val="dk1"/>
                </a:solidFill>
                <a:latin typeface="+mj-lt"/>
                <a:ea typeface="Quattrocento Sans"/>
                <a:cs typeface="Quattrocento Sans"/>
                <a:sym typeface="Quattrocento Sans"/>
              </a:rPr>
              <a:t>model</a:t>
            </a:r>
            <a:endParaRPr sz="1600" dirty="0">
              <a:solidFill>
                <a:schemeClr val="dk1"/>
              </a:solidFill>
              <a:latin typeface="+mj-lt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2C5A5-C291-1507-C5EB-EDEEE9EB7151}"/>
              </a:ext>
            </a:extLst>
          </p:cNvPr>
          <p:cNvSpPr txBox="1"/>
          <p:nvPr/>
        </p:nvSpPr>
        <p:spPr>
          <a:xfrm>
            <a:off x="2705030" y="267440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A41A46"/>
                </a:solidFill>
                <a:latin typeface="Arial Black"/>
                <a:ea typeface="Arial Black"/>
                <a:cs typeface="Arial Black"/>
                <a:sym typeface="Arial Black"/>
              </a:rPr>
              <a:t>|</a:t>
            </a:r>
            <a:r>
              <a:rPr lang="en-US" sz="2000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ru-RU" sz="2000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ГЕНЕРАТИВНЫЕ МОДЕЛИ</a:t>
            </a:r>
            <a:endParaRPr lang="ru-RU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626228-5AF4-A625-56C6-CD9574C66871}"/>
              </a:ext>
            </a:extLst>
          </p:cNvPr>
          <p:cNvSpPr txBox="1"/>
          <p:nvPr/>
        </p:nvSpPr>
        <p:spPr>
          <a:xfrm>
            <a:off x="421239" y="6373976"/>
            <a:ext cx="4613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+mj-lt"/>
              </a:rPr>
              <a:t>https://</a:t>
            </a:r>
            <a:r>
              <a:rPr lang="en-US" dirty="0" err="1">
                <a:solidFill>
                  <a:srgbClr val="000000"/>
                </a:solidFill>
                <a:effectLst/>
                <a:latin typeface="+mj-lt"/>
              </a:rPr>
              <a:t>www.midjourney.com</a:t>
            </a:r>
            <a:r>
              <a:rPr lang="en-US" dirty="0">
                <a:solidFill>
                  <a:srgbClr val="000000"/>
                </a:solidFill>
                <a:effectLst/>
                <a:latin typeface="+mj-lt"/>
              </a:rPr>
              <a:t>/explore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2563E-9AC3-406C-AAF0-39FF31C92B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19032" b="53149"/>
          <a:stretch/>
        </p:blipFill>
        <p:spPr>
          <a:xfrm>
            <a:off x="625363" y="4239631"/>
            <a:ext cx="6293159" cy="19249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2959B6-D9F3-4D7E-5331-D35BEAA2B6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5377"/>
          <a:stretch/>
        </p:blipFill>
        <p:spPr>
          <a:xfrm>
            <a:off x="7435902" y="1327924"/>
            <a:ext cx="4533845" cy="50946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2497" y="2554536"/>
            <a:ext cx="298987" cy="298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2056" y="1569062"/>
            <a:ext cx="351897" cy="35189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>
            <a:off x="2069504" y="1574240"/>
            <a:ext cx="3496200" cy="96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Кандидат физико-математических наук, преподаватель МФТИ</a:t>
            </a:r>
            <a:endParaRPr sz="1300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Занимаюсь компьютерным зрением в </a:t>
            </a:r>
            <a:r>
              <a:rPr lang="ru-RU" sz="1300" dirty="0" err="1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Yandex</a:t>
            </a:r>
            <a:endParaRPr sz="1100" dirty="0">
              <a:latin typeface="+mj-lt"/>
              <a:ea typeface="Montserrat"/>
              <a:cs typeface="Montserrat"/>
              <a:sym typeface="Montserrat"/>
            </a:endParaRPr>
          </a:p>
        </p:txBody>
      </p:sp>
      <p:pic>
        <p:nvPicPr>
          <p:cNvPr id="109" name="Google Shape;109;p2" descr="A close up of a 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67003" y="2116701"/>
            <a:ext cx="247760" cy="2083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1807922" y="1127641"/>
            <a:ext cx="3800700" cy="4371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РОМАН ИСАЧЕНКО</a:t>
            </a:r>
            <a:r>
              <a:rPr lang="ru-RU" sz="1600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, лектор</a:t>
            </a:r>
            <a:endParaRPr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676243" y="2477914"/>
            <a:ext cx="3884400" cy="39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 err="1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telegram</a:t>
            </a: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: @</a:t>
            </a:r>
            <a:r>
              <a:rPr lang="ru-RU" sz="1300" dirty="0" err="1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roman_isachenko</a:t>
            </a:r>
            <a:endParaRPr sz="1300" dirty="0">
              <a:solidFill>
                <a:schemeClr val="dk1"/>
              </a:solidFill>
              <a:highlight>
                <a:srgbClr val="00FFFF"/>
              </a:highlight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171650" y="1555000"/>
            <a:ext cx="5526600" cy="455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ru-RU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Курс посвящен современным методам построения генеративных порождающих моделей. </a:t>
            </a:r>
          </a:p>
          <a:p>
            <a:pPr lvl="0">
              <a:lnSpc>
                <a:spcPct val="115000"/>
              </a:lnSpc>
              <a:buSzPts val="1100"/>
            </a:pPr>
            <a:r>
              <a:rPr lang="ru-RU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Рассматриваются следующие классы генеративных моделей: </a:t>
            </a:r>
          </a:p>
          <a:p>
            <a:pPr marL="457200" lvl="0" indent="-311150">
              <a:lnSpc>
                <a:spcPct val="115000"/>
              </a:lnSpc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-RU" dirty="0" err="1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авторегрессионные</a:t>
            </a:r>
            <a:r>
              <a:rPr lang="ru-RU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 модели, </a:t>
            </a:r>
          </a:p>
          <a:p>
            <a:pPr marL="457200" lvl="0" indent="-311150">
              <a:lnSpc>
                <a:spcPct val="115000"/>
              </a:lnSpc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-RU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модели скрытых переменных, </a:t>
            </a:r>
          </a:p>
          <a:p>
            <a:pPr marL="457200" lvl="0" indent="-311150">
              <a:lnSpc>
                <a:spcPct val="115000"/>
              </a:lnSpc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-RU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состязательные модели,</a:t>
            </a:r>
          </a:p>
          <a:p>
            <a:pPr marL="457200" lvl="0" indent="-311150">
              <a:lnSpc>
                <a:spcPct val="115000"/>
              </a:lnSpc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ru-RU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диффузионные модели. 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ru-RU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lvl="0">
              <a:lnSpc>
                <a:spcPct val="115000"/>
              </a:lnSpc>
              <a:buSzPts val="1100"/>
            </a:pPr>
            <a:r>
              <a:rPr lang="ru-RU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Особое внимание уделяется свойствам различных классов генеративных моделей, их взаимосвязям, теоретическим предпосылкам и методам оценивания качества.</a:t>
            </a:r>
          </a:p>
          <a:p>
            <a:pPr lvl="0">
              <a:lnSpc>
                <a:spcPct val="115000"/>
              </a:lnSpc>
              <a:buSzPts val="1100"/>
            </a:pPr>
            <a:endParaRPr lang="ru-RU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ru-RU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Целью курса является знакомство слушателя с широко применяемыми продвинутыми методами глубокого обучения.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endParaRPr lang="ru-RU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ru-RU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Курс сопровождается практическими заданиями, позволяющими на практике понять принципы устройства рассматриваемых моделей.</a:t>
            </a:r>
          </a:p>
        </p:txBody>
      </p:sp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2497" y="4362375"/>
            <a:ext cx="298987" cy="298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4813" y="3544541"/>
            <a:ext cx="351897" cy="35189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/>
          <p:nvPr/>
        </p:nvSpPr>
        <p:spPr>
          <a:xfrm>
            <a:off x="2032257" y="3606338"/>
            <a:ext cx="34962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Выпускник МФТИ (2020)</a:t>
            </a:r>
            <a:endParaRPr sz="1300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>
              <a:lnSpc>
                <a:spcPct val="115000"/>
              </a:lnSpc>
              <a:buSzPts val="1100"/>
            </a:pPr>
            <a:r>
              <a:rPr lang="en-US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Senior CV Engineer</a:t>
            </a: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 в </a:t>
            </a:r>
            <a:r>
              <a:rPr lang="en-US" sz="1300" dirty="0" err="1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Gradient&amp;Persona</a:t>
            </a:r>
            <a:endParaRPr lang="en-US" sz="2000" dirty="0">
              <a:latin typeface="+mj-lt"/>
            </a:endParaRPr>
          </a:p>
        </p:txBody>
      </p:sp>
      <p:pic>
        <p:nvPicPr>
          <p:cNvPr id="117" name="Google Shape;117;p2" descr="A close up of a 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9760" y="4049030"/>
            <a:ext cx="247760" cy="2083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"/>
          <p:cNvSpPr/>
          <p:nvPr/>
        </p:nvSpPr>
        <p:spPr>
          <a:xfrm>
            <a:off x="1770682" y="3027030"/>
            <a:ext cx="3800700" cy="5175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МАТВЕЙ МОРОЗОВ</a:t>
            </a:r>
            <a:r>
              <a:rPr lang="ru-RU" sz="1600" dirty="0">
                <a:solidFill>
                  <a:srgbClr val="A41A46"/>
                </a:solidFill>
                <a:latin typeface="+mj-lt"/>
                <a:ea typeface="Montserrat"/>
                <a:cs typeface="Montserrat"/>
                <a:sym typeface="Montserrat"/>
              </a:rPr>
              <a:t>, </a:t>
            </a:r>
            <a:r>
              <a:rPr lang="ru-RU" sz="1600" dirty="0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семинарист</a:t>
            </a:r>
            <a:endParaRPr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676243" y="4323638"/>
            <a:ext cx="3884400" cy="425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 err="1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telegram</a:t>
            </a: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: </a:t>
            </a:r>
            <a:r>
              <a:rPr lang="en-US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@</a:t>
            </a:r>
            <a:r>
              <a:rPr lang="en-US" sz="1300" dirty="0" err="1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morozov_ma</a:t>
            </a:r>
            <a:endParaRPr lang="en-US" sz="1300" dirty="0">
              <a:solidFill>
                <a:schemeClr val="dk1"/>
              </a:solidFill>
              <a:highlight>
                <a:srgbClr val="00FFFF"/>
              </a:highlight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6171647" y="1125117"/>
            <a:ext cx="3347286" cy="437001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КОРОТКО О КУРСЕ</a:t>
            </a:r>
            <a:endParaRPr sz="1200" dirty="0">
              <a:solidFill>
                <a:srgbClr val="A41A46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52F96-9677-C991-E776-A363BBA0FABD}"/>
              </a:ext>
            </a:extLst>
          </p:cNvPr>
          <p:cNvSpPr txBox="1"/>
          <p:nvPr/>
        </p:nvSpPr>
        <p:spPr>
          <a:xfrm>
            <a:off x="2705030" y="267440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|</a:t>
            </a:r>
            <a:r>
              <a:rPr lang="en-US" sz="2000" dirty="0">
                <a:solidFill>
                  <a:schemeClr val="lt1"/>
                </a:solidFill>
                <a:latin typeface="+mj-lt"/>
                <a:ea typeface="Arial Black"/>
                <a:cs typeface="Arial Black"/>
                <a:sym typeface="Arial Black"/>
              </a:rPr>
              <a:t> </a:t>
            </a:r>
            <a:r>
              <a:rPr lang="ru-RU" sz="2000" dirty="0">
                <a:solidFill>
                  <a:schemeClr val="lt1"/>
                </a:solidFill>
                <a:latin typeface="+mj-lt"/>
                <a:ea typeface="Arial Black"/>
                <a:cs typeface="Arial Black"/>
                <a:sym typeface="Arial Black"/>
              </a:rPr>
              <a:t>О ПРЕПОДАВАТЕЛЯХ И КУРСЕ</a:t>
            </a:r>
            <a:endParaRPr lang="ru-RU" sz="20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0AE626-C509-3523-1078-9B28D4E733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581" y="3014887"/>
            <a:ext cx="1308751" cy="1308751"/>
          </a:xfrm>
          <a:prstGeom prst="ellipse">
            <a:avLst/>
          </a:prstGeom>
        </p:spPr>
      </p:pic>
      <p:pic>
        <p:nvPicPr>
          <p:cNvPr id="14" name="Google Shape;114;p2">
            <a:extLst>
              <a:ext uri="{FF2B5EF4-FFF2-40B4-BE49-F238E27FC236}">
                <a16:creationId xmlns:a16="http://schemas.microsoft.com/office/drawing/2014/main" id="{D52BB1FB-5B0A-ED56-6B36-C3830A7991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217" y="6312026"/>
            <a:ext cx="298987" cy="298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15;p2">
            <a:extLst>
              <a:ext uri="{FF2B5EF4-FFF2-40B4-BE49-F238E27FC236}">
                <a16:creationId xmlns:a16="http://schemas.microsoft.com/office/drawing/2014/main" id="{63BACEB7-5E58-942F-0F05-2C2FF98C88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7076" y="5345479"/>
            <a:ext cx="351897" cy="35189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16;p2">
            <a:extLst>
              <a:ext uri="{FF2B5EF4-FFF2-40B4-BE49-F238E27FC236}">
                <a16:creationId xmlns:a16="http://schemas.microsoft.com/office/drawing/2014/main" id="{141CCC75-89D1-9FD3-2F74-CA1414DFF1E6}"/>
              </a:ext>
            </a:extLst>
          </p:cNvPr>
          <p:cNvSpPr/>
          <p:nvPr/>
        </p:nvSpPr>
        <p:spPr>
          <a:xfrm>
            <a:off x="2004520" y="5407276"/>
            <a:ext cx="34962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Выпускник МФТИ (2023), аспирант </a:t>
            </a:r>
            <a:r>
              <a:rPr lang="en-US" sz="1300" dirty="0" err="1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SkolTech</a:t>
            </a:r>
            <a:endParaRPr sz="1600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118;p2">
            <a:extLst>
              <a:ext uri="{FF2B5EF4-FFF2-40B4-BE49-F238E27FC236}">
                <a16:creationId xmlns:a16="http://schemas.microsoft.com/office/drawing/2014/main" id="{C442604B-7386-A9BD-33F0-51B66F75ABE8}"/>
              </a:ext>
            </a:extLst>
          </p:cNvPr>
          <p:cNvSpPr/>
          <p:nvPr/>
        </p:nvSpPr>
        <p:spPr>
          <a:xfrm>
            <a:off x="1742945" y="4827968"/>
            <a:ext cx="3800700" cy="5175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ГРИГОРИЙ КСЕНОФОНТОВ</a:t>
            </a:r>
            <a:r>
              <a:rPr lang="ru-RU" sz="1600" dirty="0">
                <a:solidFill>
                  <a:srgbClr val="A41A46"/>
                </a:solidFill>
                <a:latin typeface="+mj-lt"/>
                <a:ea typeface="Montserrat"/>
                <a:cs typeface="Montserrat"/>
                <a:sym typeface="Montserrat"/>
              </a:rPr>
              <a:t>, </a:t>
            </a:r>
            <a:r>
              <a:rPr lang="ru-RU" sz="1600" dirty="0" err="1">
                <a:solidFill>
                  <a:schemeClr val="tx1"/>
                </a:solidFill>
                <a:latin typeface="+mj-lt"/>
                <a:ea typeface="Montserrat"/>
                <a:cs typeface="Montserrat"/>
                <a:sym typeface="Montserrat"/>
              </a:rPr>
              <a:t>асисстент</a:t>
            </a:r>
            <a:endParaRPr dirty="0">
              <a:solidFill>
                <a:schemeClr val="tx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119;p2">
            <a:extLst>
              <a:ext uri="{FF2B5EF4-FFF2-40B4-BE49-F238E27FC236}">
                <a16:creationId xmlns:a16="http://schemas.microsoft.com/office/drawing/2014/main" id="{218D563C-513D-9C59-BF92-65C40ED9307D}"/>
              </a:ext>
            </a:extLst>
          </p:cNvPr>
          <p:cNvSpPr/>
          <p:nvPr/>
        </p:nvSpPr>
        <p:spPr>
          <a:xfrm>
            <a:off x="580963" y="6273289"/>
            <a:ext cx="3884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 err="1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telegram</a:t>
            </a: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: </a:t>
            </a:r>
            <a:r>
              <a:rPr lang="en-US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@</a:t>
            </a:r>
            <a:r>
              <a:rPr lang="en-US" sz="1300" dirty="0" err="1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gregkseno</a:t>
            </a:r>
            <a:endParaRPr lang="en-US" sz="1300" dirty="0">
              <a:solidFill>
                <a:schemeClr val="dk1"/>
              </a:solidFill>
              <a:highlight>
                <a:srgbClr val="00FFFF"/>
              </a:highlight>
              <a:latin typeface="+mj-lt"/>
              <a:ea typeface="Montserrat"/>
              <a:cs typeface="Montserrat"/>
              <a:sym typeface="Montserrat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B19CD88-A664-6835-868A-C8A833B854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494" y="4716766"/>
            <a:ext cx="1308751" cy="1308751"/>
          </a:xfrm>
          <a:prstGeom prst="ellipse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A77B6E5-05DA-1C03-08CD-36A710781D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6" y="1130834"/>
            <a:ext cx="1343453" cy="1343453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/>
          <p:nvPr/>
        </p:nvSpPr>
        <p:spPr>
          <a:xfrm>
            <a:off x="898950" y="1350425"/>
            <a:ext cx="3273300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14 лекций</a:t>
            </a:r>
            <a:endParaRPr sz="1300" dirty="0">
              <a:latin typeface="+mj-l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14 семинаров</a:t>
            </a:r>
            <a:endParaRPr sz="1300" dirty="0">
              <a:latin typeface="+mj-l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6 домашних заданий</a:t>
            </a:r>
            <a:endParaRPr sz="1300" dirty="0">
              <a:latin typeface="+mj-l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экзамен</a:t>
            </a:r>
            <a:endParaRPr sz="1300" dirty="0">
              <a:latin typeface="+mj-l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5" name="Google Shape;155;p4"/>
          <p:cNvGrpSpPr/>
          <p:nvPr/>
        </p:nvGrpSpPr>
        <p:grpSpPr>
          <a:xfrm>
            <a:off x="551096" y="1504606"/>
            <a:ext cx="280784" cy="269085"/>
            <a:chOff x="6548" y="3015"/>
            <a:chExt cx="408" cy="391"/>
          </a:xfrm>
          <a:solidFill>
            <a:srgbClr val="A41A46"/>
          </a:solidFill>
        </p:grpSpPr>
        <p:sp>
          <p:nvSpPr>
            <p:cNvPr id="156" name="Google Shape;156;p4"/>
            <p:cNvSpPr/>
            <p:nvPr/>
          </p:nvSpPr>
          <p:spPr>
            <a:xfrm>
              <a:off x="6584" y="3015"/>
              <a:ext cx="337" cy="355"/>
            </a:xfrm>
            <a:custGeom>
              <a:avLst/>
              <a:gdLst/>
              <a:ahLst/>
              <a:cxnLst/>
              <a:rect l="l" t="t" r="r" b="b"/>
              <a:pathLst>
                <a:path w="228" h="240" extrusionOk="0">
                  <a:moveTo>
                    <a:pt x="115" y="240"/>
                  </a:moveTo>
                  <a:cubicBezTo>
                    <a:pt x="111" y="240"/>
                    <a:pt x="109" y="237"/>
                    <a:pt x="109" y="234"/>
                  </a:cubicBezTo>
                  <a:cubicBezTo>
                    <a:pt x="109" y="213"/>
                    <a:pt x="99" y="204"/>
                    <a:pt x="78" y="204"/>
                  </a:cubicBezTo>
                  <a:cubicBezTo>
                    <a:pt x="6" y="204"/>
                    <a:pt x="6" y="204"/>
                    <a:pt x="6" y="204"/>
                  </a:cubicBezTo>
                  <a:cubicBezTo>
                    <a:pt x="3" y="204"/>
                    <a:pt x="0" y="201"/>
                    <a:pt x="0" y="19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96" y="0"/>
                    <a:pt x="108" y="6"/>
                    <a:pt x="114" y="17"/>
                  </a:cubicBezTo>
                  <a:cubicBezTo>
                    <a:pt x="121" y="6"/>
                    <a:pt x="133" y="0"/>
                    <a:pt x="150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26" y="0"/>
                    <a:pt x="228" y="3"/>
                    <a:pt x="228" y="6"/>
                  </a:cubicBezTo>
                  <a:cubicBezTo>
                    <a:pt x="228" y="198"/>
                    <a:pt x="228" y="198"/>
                    <a:pt x="228" y="198"/>
                  </a:cubicBezTo>
                  <a:cubicBezTo>
                    <a:pt x="228" y="201"/>
                    <a:pt x="226" y="204"/>
                    <a:pt x="222" y="204"/>
                  </a:cubicBezTo>
                  <a:cubicBezTo>
                    <a:pt x="150" y="204"/>
                    <a:pt x="150" y="204"/>
                    <a:pt x="150" y="204"/>
                  </a:cubicBezTo>
                  <a:cubicBezTo>
                    <a:pt x="130" y="204"/>
                    <a:pt x="121" y="213"/>
                    <a:pt x="121" y="234"/>
                  </a:cubicBezTo>
                  <a:cubicBezTo>
                    <a:pt x="121" y="237"/>
                    <a:pt x="118" y="240"/>
                    <a:pt x="115" y="240"/>
                  </a:cubicBezTo>
                  <a:close/>
                  <a:moveTo>
                    <a:pt x="12" y="192"/>
                  </a:moveTo>
                  <a:cubicBezTo>
                    <a:pt x="78" y="192"/>
                    <a:pt x="78" y="192"/>
                    <a:pt x="78" y="192"/>
                  </a:cubicBezTo>
                  <a:cubicBezTo>
                    <a:pt x="95" y="192"/>
                    <a:pt x="108" y="198"/>
                    <a:pt x="115" y="209"/>
                  </a:cubicBezTo>
                  <a:cubicBezTo>
                    <a:pt x="121" y="198"/>
                    <a:pt x="133" y="192"/>
                    <a:pt x="150" y="192"/>
                  </a:cubicBezTo>
                  <a:cubicBezTo>
                    <a:pt x="216" y="192"/>
                    <a:pt x="216" y="192"/>
                    <a:pt x="216" y="192"/>
                  </a:cubicBezTo>
                  <a:cubicBezTo>
                    <a:pt x="216" y="12"/>
                    <a:pt x="216" y="12"/>
                    <a:pt x="216" y="12"/>
                  </a:cubicBezTo>
                  <a:cubicBezTo>
                    <a:pt x="150" y="12"/>
                    <a:pt x="150" y="12"/>
                    <a:pt x="150" y="12"/>
                  </a:cubicBezTo>
                  <a:cubicBezTo>
                    <a:pt x="130" y="12"/>
                    <a:pt x="120" y="21"/>
                    <a:pt x="120" y="42"/>
                  </a:cubicBezTo>
                  <a:cubicBezTo>
                    <a:pt x="120" y="45"/>
                    <a:pt x="118" y="48"/>
                    <a:pt x="114" y="48"/>
                  </a:cubicBezTo>
                  <a:cubicBezTo>
                    <a:pt x="111" y="48"/>
                    <a:pt x="108" y="45"/>
                    <a:pt x="108" y="42"/>
                  </a:cubicBezTo>
                  <a:cubicBezTo>
                    <a:pt x="108" y="21"/>
                    <a:pt x="99" y="12"/>
                    <a:pt x="7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4"/>
            <p:cNvSpPr/>
            <p:nvPr/>
          </p:nvSpPr>
          <p:spPr>
            <a:xfrm>
              <a:off x="6548" y="3051"/>
              <a:ext cx="408" cy="355"/>
            </a:xfrm>
            <a:custGeom>
              <a:avLst/>
              <a:gdLst/>
              <a:ahLst/>
              <a:cxnLst/>
              <a:rect l="l" t="t" r="r" b="b"/>
              <a:pathLst>
                <a:path w="276" h="240" extrusionOk="0">
                  <a:moveTo>
                    <a:pt x="156" y="240"/>
                  </a:moveTo>
                  <a:cubicBezTo>
                    <a:pt x="120" y="240"/>
                    <a:pt x="120" y="240"/>
                    <a:pt x="120" y="240"/>
                  </a:cubicBezTo>
                  <a:cubicBezTo>
                    <a:pt x="117" y="240"/>
                    <a:pt x="114" y="237"/>
                    <a:pt x="114" y="234"/>
                  </a:cubicBezTo>
                  <a:cubicBezTo>
                    <a:pt x="114" y="207"/>
                    <a:pt x="89" y="204"/>
                    <a:pt x="78" y="204"/>
                  </a:cubicBezTo>
                  <a:cubicBezTo>
                    <a:pt x="6" y="204"/>
                    <a:pt x="6" y="204"/>
                    <a:pt x="6" y="204"/>
                  </a:cubicBezTo>
                  <a:cubicBezTo>
                    <a:pt x="3" y="204"/>
                    <a:pt x="0" y="201"/>
                    <a:pt x="0" y="19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0"/>
                    <a:pt x="36" y="3"/>
                    <a:pt x="36" y="6"/>
                  </a:cubicBezTo>
                  <a:cubicBezTo>
                    <a:pt x="36" y="9"/>
                    <a:pt x="34" y="12"/>
                    <a:pt x="30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192"/>
                    <a:pt x="12" y="192"/>
                    <a:pt x="12" y="192"/>
                  </a:cubicBezTo>
                  <a:cubicBezTo>
                    <a:pt x="78" y="192"/>
                    <a:pt x="78" y="192"/>
                    <a:pt x="78" y="192"/>
                  </a:cubicBezTo>
                  <a:cubicBezTo>
                    <a:pt x="105" y="192"/>
                    <a:pt x="123" y="206"/>
                    <a:pt x="126" y="228"/>
                  </a:cubicBezTo>
                  <a:cubicBezTo>
                    <a:pt x="151" y="228"/>
                    <a:pt x="151" y="228"/>
                    <a:pt x="151" y="228"/>
                  </a:cubicBezTo>
                  <a:cubicBezTo>
                    <a:pt x="154" y="206"/>
                    <a:pt x="172" y="192"/>
                    <a:pt x="198" y="192"/>
                  </a:cubicBezTo>
                  <a:cubicBezTo>
                    <a:pt x="264" y="192"/>
                    <a:pt x="264" y="192"/>
                    <a:pt x="264" y="192"/>
                  </a:cubicBezTo>
                  <a:cubicBezTo>
                    <a:pt x="264" y="12"/>
                    <a:pt x="264" y="12"/>
                    <a:pt x="264" y="12"/>
                  </a:cubicBezTo>
                  <a:cubicBezTo>
                    <a:pt x="246" y="12"/>
                    <a:pt x="246" y="12"/>
                    <a:pt x="246" y="12"/>
                  </a:cubicBezTo>
                  <a:cubicBezTo>
                    <a:pt x="243" y="12"/>
                    <a:pt x="240" y="9"/>
                    <a:pt x="240" y="6"/>
                  </a:cubicBezTo>
                  <a:cubicBezTo>
                    <a:pt x="240" y="3"/>
                    <a:pt x="243" y="0"/>
                    <a:pt x="246" y="0"/>
                  </a:cubicBezTo>
                  <a:cubicBezTo>
                    <a:pt x="270" y="0"/>
                    <a:pt x="270" y="0"/>
                    <a:pt x="270" y="0"/>
                  </a:cubicBezTo>
                  <a:cubicBezTo>
                    <a:pt x="274" y="0"/>
                    <a:pt x="276" y="3"/>
                    <a:pt x="276" y="6"/>
                  </a:cubicBezTo>
                  <a:cubicBezTo>
                    <a:pt x="276" y="198"/>
                    <a:pt x="276" y="198"/>
                    <a:pt x="276" y="198"/>
                  </a:cubicBezTo>
                  <a:cubicBezTo>
                    <a:pt x="276" y="201"/>
                    <a:pt x="274" y="204"/>
                    <a:pt x="270" y="204"/>
                  </a:cubicBezTo>
                  <a:cubicBezTo>
                    <a:pt x="198" y="204"/>
                    <a:pt x="198" y="204"/>
                    <a:pt x="198" y="204"/>
                  </a:cubicBezTo>
                  <a:cubicBezTo>
                    <a:pt x="188" y="204"/>
                    <a:pt x="162" y="207"/>
                    <a:pt x="162" y="234"/>
                  </a:cubicBezTo>
                  <a:cubicBezTo>
                    <a:pt x="162" y="237"/>
                    <a:pt x="160" y="240"/>
                    <a:pt x="156" y="24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4"/>
          <p:cNvGrpSpPr/>
          <p:nvPr/>
        </p:nvGrpSpPr>
        <p:grpSpPr>
          <a:xfrm>
            <a:off x="539541" y="2655366"/>
            <a:ext cx="255643" cy="275900"/>
            <a:chOff x="570" y="1908"/>
            <a:chExt cx="366" cy="395"/>
          </a:xfrm>
          <a:solidFill>
            <a:srgbClr val="A41A46"/>
          </a:solidFill>
        </p:grpSpPr>
        <p:sp>
          <p:nvSpPr>
            <p:cNvPr id="160" name="Google Shape;160;p4"/>
            <p:cNvSpPr/>
            <p:nvPr/>
          </p:nvSpPr>
          <p:spPr>
            <a:xfrm>
              <a:off x="570" y="1908"/>
              <a:ext cx="366" cy="395"/>
            </a:xfrm>
            <a:custGeom>
              <a:avLst/>
              <a:gdLst/>
              <a:ahLst/>
              <a:cxnLst/>
              <a:rect l="l" t="t" r="r" b="b"/>
              <a:pathLst>
                <a:path w="239" h="264" extrusionOk="0">
                  <a:moveTo>
                    <a:pt x="233" y="196"/>
                  </a:moveTo>
                  <a:cubicBezTo>
                    <a:pt x="228" y="180"/>
                    <a:pt x="202" y="171"/>
                    <a:pt x="168" y="159"/>
                  </a:cubicBezTo>
                  <a:cubicBezTo>
                    <a:pt x="163" y="157"/>
                    <a:pt x="157" y="155"/>
                    <a:pt x="151" y="153"/>
                  </a:cubicBezTo>
                  <a:cubicBezTo>
                    <a:pt x="151" y="131"/>
                    <a:pt x="151" y="131"/>
                    <a:pt x="151" y="131"/>
                  </a:cubicBezTo>
                  <a:cubicBezTo>
                    <a:pt x="174" y="119"/>
                    <a:pt x="189" y="96"/>
                    <a:pt x="189" y="69"/>
                  </a:cubicBezTo>
                  <a:cubicBezTo>
                    <a:pt x="189" y="31"/>
                    <a:pt x="158" y="0"/>
                    <a:pt x="120" y="0"/>
                  </a:cubicBezTo>
                  <a:cubicBezTo>
                    <a:pt x="82" y="0"/>
                    <a:pt x="51" y="31"/>
                    <a:pt x="51" y="69"/>
                  </a:cubicBezTo>
                  <a:cubicBezTo>
                    <a:pt x="51" y="96"/>
                    <a:pt x="66" y="119"/>
                    <a:pt x="88" y="131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3" y="155"/>
                    <a:pt x="78" y="156"/>
                    <a:pt x="73" y="158"/>
                  </a:cubicBezTo>
                  <a:cubicBezTo>
                    <a:pt x="40" y="170"/>
                    <a:pt x="12" y="180"/>
                    <a:pt x="7" y="196"/>
                  </a:cubicBezTo>
                  <a:cubicBezTo>
                    <a:pt x="0" y="215"/>
                    <a:pt x="0" y="256"/>
                    <a:pt x="0" y="258"/>
                  </a:cubicBezTo>
                  <a:cubicBezTo>
                    <a:pt x="0" y="262"/>
                    <a:pt x="3" y="264"/>
                    <a:pt x="7" y="264"/>
                  </a:cubicBezTo>
                  <a:cubicBezTo>
                    <a:pt x="233" y="264"/>
                    <a:pt x="233" y="264"/>
                    <a:pt x="233" y="264"/>
                  </a:cubicBezTo>
                  <a:cubicBezTo>
                    <a:pt x="237" y="264"/>
                    <a:pt x="239" y="262"/>
                    <a:pt x="239" y="258"/>
                  </a:cubicBezTo>
                  <a:cubicBezTo>
                    <a:pt x="239" y="256"/>
                    <a:pt x="239" y="215"/>
                    <a:pt x="233" y="196"/>
                  </a:cubicBezTo>
                  <a:close/>
                  <a:moveTo>
                    <a:pt x="63" y="69"/>
                  </a:moveTo>
                  <a:cubicBezTo>
                    <a:pt x="63" y="38"/>
                    <a:pt x="89" y="13"/>
                    <a:pt x="120" y="13"/>
                  </a:cubicBezTo>
                  <a:cubicBezTo>
                    <a:pt x="151" y="13"/>
                    <a:pt x="177" y="38"/>
                    <a:pt x="177" y="69"/>
                  </a:cubicBezTo>
                  <a:cubicBezTo>
                    <a:pt x="177" y="101"/>
                    <a:pt x="151" y="126"/>
                    <a:pt x="120" y="126"/>
                  </a:cubicBezTo>
                  <a:cubicBezTo>
                    <a:pt x="89" y="126"/>
                    <a:pt x="63" y="101"/>
                    <a:pt x="63" y="69"/>
                  </a:cubicBezTo>
                  <a:close/>
                  <a:moveTo>
                    <a:pt x="13" y="252"/>
                  </a:moveTo>
                  <a:cubicBezTo>
                    <a:pt x="13" y="240"/>
                    <a:pt x="14" y="213"/>
                    <a:pt x="18" y="200"/>
                  </a:cubicBezTo>
                  <a:cubicBezTo>
                    <a:pt x="22" y="190"/>
                    <a:pt x="52" y="179"/>
                    <a:pt x="77" y="170"/>
                  </a:cubicBezTo>
                  <a:cubicBezTo>
                    <a:pt x="84" y="168"/>
                    <a:pt x="90" y="165"/>
                    <a:pt x="97" y="163"/>
                  </a:cubicBezTo>
                  <a:cubicBezTo>
                    <a:pt x="99" y="162"/>
                    <a:pt x="101" y="160"/>
                    <a:pt x="101" y="157"/>
                  </a:cubicBezTo>
                  <a:cubicBezTo>
                    <a:pt x="101" y="136"/>
                    <a:pt x="101" y="136"/>
                    <a:pt x="101" y="136"/>
                  </a:cubicBezTo>
                  <a:cubicBezTo>
                    <a:pt x="107" y="138"/>
                    <a:pt x="113" y="139"/>
                    <a:pt x="120" y="139"/>
                  </a:cubicBezTo>
                  <a:cubicBezTo>
                    <a:pt x="126" y="139"/>
                    <a:pt x="133" y="138"/>
                    <a:pt x="139" y="136"/>
                  </a:cubicBezTo>
                  <a:cubicBezTo>
                    <a:pt x="139" y="157"/>
                    <a:pt x="139" y="157"/>
                    <a:pt x="139" y="157"/>
                  </a:cubicBezTo>
                  <a:cubicBezTo>
                    <a:pt x="139" y="160"/>
                    <a:pt x="140" y="162"/>
                    <a:pt x="143" y="163"/>
                  </a:cubicBezTo>
                  <a:cubicBezTo>
                    <a:pt x="150" y="166"/>
                    <a:pt x="157" y="168"/>
                    <a:pt x="164" y="171"/>
                  </a:cubicBezTo>
                  <a:cubicBezTo>
                    <a:pt x="190" y="180"/>
                    <a:pt x="218" y="190"/>
                    <a:pt x="221" y="200"/>
                  </a:cubicBezTo>
                  <a:cubicBezTo>
                    <a:pt x="225" y="213"/>
                    <a:pt x="226" y="240"/>
                    <a:pt x="227" y="252"/>
                  </a:cubicBezTo>
                  <a:lnTo>
                    <a:pt x="13" y="25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4"/>
            <p:cNvSpPr/>
            <p:nvPr/>
          </p:nvSpPr>
          <p:spPr>
            <a:xfrm>
              <a:off x="745" y="2053"/>
              <a:ext cx="18" cy="2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716" y="1947"/>
              <a:ext cx="76" cy="102"/>
            </a:xfrm>
            <a:custGeom>
              <a:avLst/>
              <a:gdLst/>
              <a:ahLst/>
              <a:cxnLst/>
              <a:rect l="l" t="t" r="r" b="b"/>
              <a:pathLst>
                <a:path w="50" h="68" extrusionOk="0">
                  <a:moveTo>
                    <a:pt x="25" y="37"/>
                  </a:moveTo>
                  <a:cubicBezTo>
                    <a:pt x="21" y="37"/>
                    <a:pt x="19" y="40"/>
                    <a:pt x="19" y="43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19" y="66"/>
                    <a:pt x="21" y="68"/>
                    <a:pt x="25" y="68"/>
                  </a:cubicBezTo>
                  <a:cubicBezTo>
                    <a:pt x="28" y="68"/>
                    <a:pt x="31" y="66"/>
                    <a:pt x="31" y="62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42" y="46"/>
                    <a:pt x="50" y="36"/>
                    <a:pt x="50" y="25"/>
                  </a:cubicBezTo>
                  <a:cubicBezTo>
                    <a:pt x="50" y="11"/>
                    <a:pt x="39" y="0"/>
                    <a:pt x="25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28"/>
                    <a:pt x="3" y="31"/>
                    <a:pt x="6" y="31"/>
                  </a:cubicBezTo>
                  <a:cubicBezTo>
                    <a:pt x="10" y="31"/>
                    <a:pt x="12" y="28"/>
                    <a:pt x="12" y="25"/>
                  </a:cubicBezTo>
                  <a:cubicBezTo>
                    <a:pt x="12" y="18"/>
                    <a:pt x="18" y="12"/>
                    <a:pt x="25" y="12"/>
                  </a:cubicBezTo>
                  <a:cubicBezTo>
                    <a:pt x="32" y="12"/>
                    <a:pt x="37" y="18"/>
                    <a:pt x="37" y="25"/>
                  </a:cubicBezTo>
                  <a:cubicBezTo>
                    <a:pt x="37" y="32"/>
                    <a:pt x="32" y="37"/>
                    <a:pt x="25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520194" y="2285674"/>
            <a:ext cx="314989" cy="275060"/>
            <a:chOff x="3437" y="3023"/>
            <a:chExt cx="426" cy="372"/>
          </a:xfrm>
          <a:solidFill>
            <a:srgbClr val="A41A46"/>
          </a:solidFill>
        </p:grpSpPr>
        <p:sp>
          <p:nvSpPr>
            <p:cNvPr id="164" name="Google Shape;164;p4"/>
            <p:cNvSpPr/>
            <p:nvPr/>
          </p:nvSpPr>
          <p:spPr>
            <a:xfrm>
              <a:off x="3570" y="3071"/>
              <a:ext cx="27" cy="82"/>
            </a:xfrm>
            <a:custGeom>
              <a:avLst/>
              <a:gdLst/>
              <a:ahLst/>
              <a:cxnLst/>
              <a:rect l="l" t="t" r="r" b="b"/>
              <a:pathLst>
                <a:path w="18" h="55" extrusionOk="0">
                  <a:moveTo>
                    <a:pt x="12" y="55"/>
                  </a:moveTo>
                  <a:cubicBezTo>
                    <a:pt x="9" y="55"/>
                    <a:pt x="6" y="52"/>
                    <a:pt x="6" y="4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7"/>
                    <a:pt x="3" y="17"/>
                    <a:pt x="3" y="16"/>
                  </a:cubicBezTo>
                  <a:cubicBezTo>
                    <a:pt x="0" y="13"/>
                    <a:pt x="0" y="10"/>
                    <a:pt x="3" y="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0" y="1"/>
                    <a:pt x="12" y="0"/>
                    <a:pt x="14" y="1"/>
                  </a:cubicBezTo>
                  <a:cubicBezTo>
                    <a:pt x="16" y="2"/>
                    <a:pt x="18" y="4"/>
                    <a:pt x="18" y="7"/>
                  </a:cubicBezTo>
                  <a:cubicBezTo>
                    <a:pt x="18" y="49"/>
                    <a:pt x="18" y="49"/>
                    <a:pt x="18" y="49"/>
                  </a:cubicBezTo>
                  <a:cubicBezTo>
                    <a:pt x="18" y="52"/>
                    <a:pt x="15" y="55"/>
                    <a:pt x="12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4"/>
            <p:cNvSpPr/>
            <p:nvPr/>
          </p:nvSpPr>
          <p:spPr>
            <a:xfrm>
              <a:off x="3509" y="3159"/>
              <a:ext cx="26" cy="81"/>
            </a:xfrm>
            <a:custGeom>
              <a:avLst/>
              <a:gdLst/>
              <a:ahLst/>
              <a:cxnLst/>
              <a:rect l="l" t="t" r="r" b="b"/>
              <a:pathLst>
                <a:path w="17" h="55" extrusionOk="0">
                  <a:moveTo>
                    <a:pt x="11" y="55"/>
                  </a:moveTo>
                  <a:cubicBezTo>
                    <a:pt x="8" y="55"/>
                    <a:pt x="5" y="52"/>
                    <a:pt x="5" y="4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7"/>
                    <a:pt x="3" y="17"/>
                    <a:pt x="2" y="16"/>
                  </a:cubicBezTo>
                  <a:cubicBezTo>
                    <a:pt x="0" y="13"/>
                    <a:pt x="0" y="10"/>
                    <a:pt x="2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9" y="1"/>
                    <a:pt x="11" y="0"/>
                    <a:pt x="14" y="1"/>
                  </a:cubicBezTo>
                  <a:cubicBezTo>
                    <a:pt x="16" y="2"/>
                    <a:pt x="17" y="4"/>
                    <a:pt x="17" y="7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52"/>
                    <a:pt x="15" y="55"/>
                    <a:pt x="1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3755" y="3071"/>
              <a:ext cx="27" cy="82"/>
            </a:xfrm>
            <a:custGeom>
              <a:avLst/>
              <a:gdLst/>
              <a:ahLst/>
              <a:cxnLst/>
              <a:rect l="l" t="t" r="r" b="b"/>
              <a:pathLst>
                <a:path w="18" h="55" extrusionOk="0">
                  <a:moveTo>
                    <a:pt x="12" y="55"/>
                  </a:moveTo>
                  <a:cubicBezTo>
                    <a:pt x="9" y="55"/>
                    <a:pt x="6" y="52"/>
                    <a:pt x="6" y="4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7"/>
                    <a:pt x="4" y="17"/>
                    <a:pt x="3" y="16"/>
                  </a:cubicBezTo>
                  <a:cubicBezTo>
                    <a:pt x="0" y="13"/>
                    <a:pt x="0" y="10"/>
                    <a:pt x="3" y="7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10" y="1"/>
                    <a:pt x="12" y="0"/>
                    <a:pt x="14" y="1"/>
                  </a:cubicBezTo>
                  <a:cubicBezTo>
                    <a:pt x="17" y="2"/>
                    <a:pt x="18" y="4"/>
                    <a:pt x="18" y="7"/>
                  </a:cubicBezTo>
                  <a:cubicBezTo>
                    <a:pt x="18" y="49"/>
                    <a:pt x="18" y="49"/>
                    <a:pt x="18" y="49"/>
                  </a:cubicBezTo>
                  <a:cubicBezTo>
                    <a:pt x="18" y="52"/>
                    <a:pt x="15" y="55"/>
                    <a:pt x="12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3755" y="3159"/>
              <a:ext cx="27" cy="81"/>
            </a:xfrm>
            <a:custGeom>
              <a:avLst/>
              <a:gdLst/>
              <a:ahLst/>
              <a:cxnLst/>
              <a:rect l="l" t="t" r="r" b="b"/>
              <a:pathLst>
                <a:path w="18" h="55" extrusionOk="0">
                  <a:moveTo>
                    <a:pt x="12" y="55"/>
                  </a:moveTo>
                  <a:cubicBezTo>
                    <a:pt x="9" y="55"/>
                    <a:pt x="6" y="52"/>
                    <a:pt x="6" y="4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7"/>
                    <a:pt x="4" y="17"/>
                    <a:pt x="3" y="16"/>
                  </a:cubicBezTo>
                  <a:cubicBezTo>
                    <a:pt x="0" y="13"/>
                    <a:pt x="0" y="10"/>
                    <a:pt x="3" y="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0" y="1"/>
                    <a:pt x="12" y="0"/>
                    <a:pt x="14" y="1"/>
                  </a:cubicBezTo>
                  <a:cubicBezTo>
                    <a:pt x="17" y="2"/>
                    <a:pt x="18" y="4"/>
                    <a:pt x="18" y="7"/>
                  </a:cubicBezTo>
                  <a:cubicBezTo>
                    <a:pt x="18" y="49"/>
                    <a:pt x="18" y="49"/>
                    <a:pt x="18" y="49"/>
                  </a:cubicBezTo>
                  <a:cubicBezTo>
                    <a:pt x="18" y="52"/>
                    <a:pt x="15" y="55"/>
                    <a:pt x="12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3694" y="3071"/>
              <a:ext cx="26" cy="82"/>
            </a:xfrm>
            <a:custGeom>
              <a:avLst/>
              <a:gdLst/>
              <a:ahLst/>
              <a:cxnLst/>
              <a:rect l="l" t="t" r="r" b="b"/>
              <a:pathLst>
                <a:path w="17" h="55" extrusionOk="0">
                  <a:moveTo>
                    <a:pt x="11" y="55"/>
                  </a:moveTo>
                  <a:cubicBezTo>
                    <a:pt x="8" y="55"/>
                    <a:pt x="5" y="52"/>
                    <a:pt x="5" y="4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7"/>
                    <a:pt x="3" y="17"/>
                    <a:pt x="2" y="16"/>
                  </a:cubicBezTo>
                  <a:cubicBezTo>
                    <a:pt x="0" y="13"/>
                    <a:pt x="0" y="10"/>
                    <a:pt x="2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6" y="2"/>
                    <a:pt x="17" y="4"/>
                    <a:pt x="17" y="7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52"/>
                    <a:pt x="15" y="55"/>
                    <a:pt x="1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3632" y="3159"/>
              <a:ext cx="27" cy="81"/>
            </a:xfrm>
            <a:custGeom>
              <a:avLst/>
              <a:gdLst/>
              <a:ahLst/>
              <a:cxnLst/>
              <a:rect l="l" t="t" r="r" b="b"/>
              <a:pathLst>
                <a:path w="18" h="55" extrusionOk="0">
                  <a:moveTo>
                    <a:pt x="12" y="55"/>
                  </a:moveTo>
                  <a:cubicBezTo>
                    <a:pt x="8" y="55"/>
                    <a:pt x="6" y="52"/>
                    <a:pt x="6" y="4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4" y="17"/>
                    <a:pt x="3" y="17"/>
                    <a:pt x="2" y="16"/>
                  </a:cubicBezTo>
                  <a:cubicBezTo>
                    <a:pt x="0" y="13"/>
                    <a:pt x="0" y="10"/>
                    <a:pt x="2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6" y="2"/>
                    <a:pt x="18" y="4"/>
                    <a:pt x="18" y="7"/>
                  </a:cubicBezTo>
                  <a:cubicBezTo>
                    <a:pt x="18" y="49"/>
                    <a:pt x="18" y="49"/>
                    <a:pt x="18" y="49"/>
                  </a:cubicBezTo>
                  <a:cubicBezTo>
                    <a:pt x="18" y="52"/>
                    <a:pt x="15" y="55"/>
                    <a:pt x="12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3498" y="3071"/>
              <a:ext cx="50" cy="82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17" y="55"/>
                  </a:moveTo>
                  <a:cubicBezTo>
                    <a:pt x="0" y="55"/>
                    <a:pt x="0" y="35"/>
                    <a:pt x="0" y="28"/>
                  </a:cubicBezTo>
                  <a:cubicBezTo>
                    <a:pt x="0" y="20"/>
                    <a:pt x="0" y="0"/>
                    <a:pt x="17" y="0"/>
                  </a:cubicBezTo>
                  <a:cubicBezTo>
                    <a:pt x="34" y="0"/>
                    <a:pt x="34" y="20"/>
                    <a:pt x="34" y="28"/>
                  </a:cubicBezTo>
                  <a:cubicBezTo>
                    <a:pt x="34" y="35"/>
                    <a:pt x="34" y="55"/>
                    <a:pt x="17" y="55"/>
                  </a:cubicBezTo>
                  <a:close/>
                  <a:moveTo>
                    <a:pt x="17" y="12"/>
                  </a:moveTo>
                  <a:cubicBezTo>
                    <a:pt x="15" y="12"/>
                    <a:pt x="12" y="12"/>
                    <a:pt x="12" y="28"/>
                  </a:cubicBezTo>
                  <a:cubicBezTo>
                    <a:pt x="12" y="43"/>
                    <a:pt x="15" y="43"/>
                    <a:pt x="17" y="43"/>
                  </a:cubicBezTo>
                  <a:cubicBezTo>
                    <a:pt x="18" y="43"/>
                    <a:pt x="22" y="43"/>
                    <a:pt x="22" y="28"/>
                  </a:cubicBezTo>
                  <a:cubicBezTo>
                    <a:pt x="22" y="12"/>
                    <a:pt x="18" y="12"/>
                    <a:pt x="17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3620" y="3071"/>
              <a:ext cx="51" cy="82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17" y="55"/>
                  </a:moveTo>
                  <a:cubicBezTo>
                    <a:pt x="0" y="55"/>
                    <a:pt x="0" y="35"/>
                    <a:pt x="0" y="28"/>
                  </a:cubicBezTo>
                  <a:cubicBezTo>
                    <a:pt x="0" y="20"/>
                    <a:pt x="0" y="0"/>
                    <a:pt x="17" y="0"/>
                  </a:cubicBezTo>
                  <a:cubicBezTo>
                    <a:pt x="34" y="0"/>
                    <a:pt x="34" y="20"/>
                    <a:pt x="34" y="28"/>
                  </a:cubicBezTo>
                  <a:cubicBezTo>
                    <a:pt x="34" y="35"/>
                    <a:pt x="34" y="55"/>
                    <a:pt x="17" y="55"/>
                  </a:cubicBezTo>
                  <a:close/>
                  <a:moveTo>
                    <a:pt x="17" y="12"/>
                  </a:moveTo>
                  <a:cubicBezTo>
                    <a:pt x="15" y="12"/>
                    <a:pt x="12" y="12"/>
                    <a:pt x="12" y="28"/>
                  </a:cubicBezTo>
                  <a:cubicBezTo>
                    <a:pt x="12" y="43"/>
                    <a:pt x="15" y="43"/>
                    <a:pt x="17" y="43"/>
                  </a:cubicBezTo>
                  <a:cubicBezTo>
                    <a:pt x="19" y="43"/>
                    <a:pt x="22" y="43"/>
                    <a:pt x="22" y="28"/>
                  </a:cubicBezTo>
                  <a:cubicBezTo>
                    <a:pt x="22" y="12"/>
                    <a:pt x="19" y="12"/>
                    <a:pt x="17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3683" y="3159"/>
              <a:ext cx="50" cy="81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17" y="55"/>
                  </a:moveTo>
                  <a:cubicBezTo>
                    <a:pt x="0" y="55"/>
                    <a:pt x="0" y="35"/>
                    <a:pt x="0" y="28"/>
                  </a:cubicBezTo>
                  <a:cubicBezTo>
                    <a:pt x="0" y="20"/>
                    <a:pt x="0" y="0"/>
                    <a:pt x="17" y="0"/>
                  </a:cubicBezTo>
                  <a:cubicBezTo>
                    <a:pt x="34" y="0"/>
                    <a:pt x="34" y="20"/>
                    <a:pt x="34" y="28"/>
                  </a:cubicBezTo>
                  <a:cubicBezTo>
                    <a:pt x="34" y="35"/>
                    <a:pt x="34" y="55"/>
                    <a:pt x="17" y="55"/>
                  </a:cubicBezTo>
                  <a:close/>
                  <a:moveTo>
                    <a:pt x="17" y="12"/>
                  </a:moveTo>
                  <a:cubicBezTo>
                    <a:pt x="15" y="12"/>
                    <a:pt x="12" y="12"/>
                    <a:pt x="12" y="28"/>
                  </a:cubicBezTo>
                  <a:cubicBezTo>
                    <a:pt x="12" y="43"/>
                    <a:pt x="15" y="43"/>
                    <a:pt x="17" y="43"/>
                  </a:cubicBezTo>
                  <a:cubicBezTo>
                    <a:pt x="19" y="43"/>
                    <a:pt x="22" y="43"/>
                    <a:pt x="22" y="28"/>
                  </a:cubicBezTo>
                  <a:cubicBezTo>
                    <a:pt x="22" y="12"/>
                    <a:pt x="19" y="12"/>
                    <a:pt x="17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3558" y="3159"/>
              <a:ext cx="51" cy="81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17" y="55"/>
                  </a:moveTo>
                  <a:cubicBezTo>
                    <a:pt x="0" y="55"/>
                    <a:pt x="0" y="35"/>
                    <a:pt x="0" y="28"/>
                  </a:cubicBezTo>
                  <a:cubicBezTo>
                    <a:pt x="0" y="20"/>
                    <a:pt x="0" y="0"/>
                    <a:pt x="17" y="0"/>
                  </a:cubicBezTo>
                  <a:cubicBezTo>
                    <a:pt x="34" y="0"/>
                    <a:pt x="34" y="20"/>
                    <a:pt x="34" y="28"/>
                  </a:cubicBezTo>
                  <a:cubicBezTo>
                    <a:pt x="34" y="35"/>
                    <a:pt x="34" y="55"/>
                    <a:pt x="17" y="55"/>
                  </a:cubicBezTo>
                  <a:close/>
                  <a:moveTo>
                    <a:pt x="17" y="12"/>
                  </a:moveTo>
                  <a:cubicBezTo>
                    <a:pt x="16" y="12"/>
                    <a:pt x="12" y="12"/>
                    <a:pt x="12" y="28"/>
                  </a:cubicBezTo>
                  <a:cubicBezTo>
                    <a:pt x="12" y="43"/>
                    <a:pt x="16" y="43"/>
                    <a:pt x="17" y="43"/>
                  </a:cubicBezTo>
                  <a:cubicBezTo>
                    <a:pt x="19" y="43"/>
                    <a:pt x="22" y="43"/>
                    <a:pt x="22" y="28"/>
                  </a:cubicBezTo>
                  <a:cubicBezTo>
                    <a:pt x="22" y="12"/>
                    <a:pt x="19" y="12"/>
                    <a:pt x="17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3437" y="3023"/>
              <a:ext cx="426" cy="337"/>
            </a:xfrm>
            <a:custGeom>
              <a:avLst/>
              <a:gdLst/>
              <a:ahLst/>
              <a:cxnLst/>
              <a:rect l="l" t="t" r="r" b="b"/>
              <a:pathLst>
                <a:path w="288" h="228" extrusionOk="0">
                  <a:moveTo>
                    <a:pt x="264" y="228"/>
                  </a:moveTo>
                  <a:cubicBezTo>
                    <a:pt x="24" y="228"/>
                    <a:pt x="24" y="228"/>
                    <a:pt x="24" y="228"/>
                  </a:cubicBezTo>
                  <a:cubicBezTo>
                    <a:pt x="10" y="228"/>
                    <a:pt x="0" y="217"/>
                    <a:pt x="0" y="20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0" y="0"/>
                    <a:pt x="24" y="0"/>
                  </a:cubicBezTo>
                  <a:cubicBezTo>
                    <a:pt x="264" y="0"/>
                    <a:pt x="264" y="0"/>
                    <a:pt x="264" y="0"/>
                  </a:cubicBezTo>
                  <a:cubicBezTo>
                    <a:pt x="277" y="0"/>
                    <a:pt x="288" y="11"/>
                    <a:pt x="288" y="25"/>
                  </a:cubicBezTo>
                  <a:cubicBezTo>
                    <a:pt x="288" y="203"/>
                    <a:pt x="288" y="203"/>
                    <a:pt x="288" y="203"/>
                  </a:cubicBezTo>
                  <a:cubicBezTo>
                    <a:pt x="288" y="217"/>
                    <a:pt x="277" y="228"/>
                    <a:pt x="264" y="22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5"/>
                  </a:cubicBezTo>
                  <a:cubicBezTo>
                    <a:pt x="12" y="203"/>
                    <a:pt x="12" y="203"/>
                    <a:pt x="12" y="203"/>
                  </a:cubicBezTo>
                  <a:cubicBezTo>
                    <a:pt x="12" y="210"/>
                    <a:pt x="17" y="216"/>
                    <a:pt x="24" y="216"/>
                  </a:cubicBezTo>
                  <a:cubicBezTo>
                    <a:pt x="264" y="216"/>
                    <a:pt x="264" y="216"/>
                    <a:pt x="264" y="216"/>
                  </a:cubicBezTo>
                  <a:cubicBezTo>
                    <a:pt x="270" y="216"/>
                    <a:pt x="276" y="210"/>
                    <a:pt x="276" y="203"/>
                  </a:cubicBezTo>
                  <a:cubicBezTo>
                    <a:pt x="276" y="25"/>
                    <a:pt x="276" y="25"/>
                    <a:pt x="276" y="25"/>
                  </a:cubicBezTo>
                  <a:cubicBezTo>
                    <a:pt x="276" y="18"/>
                    <a:pt x="270" y="12"/>
                    <a:pt x="264" y="12"/>
                  </a:cubicBezTo>
                  <a:lnTo>
                    <a:pt x="24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4"/>
            <p:cNvSpPr/>
            <p:nvPr/>
          </p:nvSpPr>
          <p:spPr>
            <a:xfrm>
              <a:off x="3517" y="3378"/>
              <a:ext cx="266" cy="17"/>
            </a:xfrm>
            <a:custGeom>
              <a:avLst/>
              <a:gdLst/>
              <a:ahLst/>
              <a:cxnLst/>
              <a:rect l="l" t="t" r="r" b="b"/>
              <a:pathLst>
                <a:path w="180" h="12" extrusionOk="0">
                  <a:moveTo>
                    <a:pt x="17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7" y="0"/>
                    <a:pt x="180" y="3"/>
                    <a:pt x="180" y="6"/>
                  </a:cubicBezTo>
                  <a:cubicBezTo>
                    <a:pt x="180" y="10"/>
                    <a:pt x="177" y="12"/>
                    <a:pt x="174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3632" y="3342"/>
              <a:ext cx="18" cy="53"/>
            </a:xfrm>
            <a:custGeom>
              <a:avLst/>
              <a:gdLst/>
              <a:ahLst/>
              <a:cxnLst/>
              <a:rect l="l" t="t" r="r" b="b"/>
              <a:pathLst>
                <a:path w="12" h="36" extrusionOk="0">
                  <a:moveTo>
                    <a:pt x="6" y="36"/>
                  </a:moveTo>
                  <a:cubicBezTo>
                    <a:pt x="2" y="36"/>
                    <a:pt x="0" y="34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4"/>
                    <a:pt x="9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4"/>
            <p:cNvSpPr/>
            <p:nvPr/>
          </p:nvSpPr>
          <p:spPr>
            <a:xfrm>
              <a:off x="3632" y="3298"/>
              <a:ext cx="36" cy="35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3446" y="3271"/>
              <a:ext cx="408" cy="18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4"/>
          <p:cNvSpPr/>
          <p:nvPr/>
        </p:nvSpPr>
        <p:spPr>
          <a:xfrm>
            <a:off x="884599" y="3689750"/>
            <a:ext cx="3311091" cy="241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6 </a:t>
            </a:r>
            <a:r>
              <a:rPr lang="ru-RU" sz="1300" dirty="0" err="1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дз</a:t>
            </a: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 по 1</a:t>
            </a:r>
            <a:r>
              <a:rPr lang="en-US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5</a:t>
            </a: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 баллов:   </a:t>
            </a:r>
            <a:r>
              <a:rPr lang="en-US" sz="1300" dirty="0">
                <a:solidFill>
                  <a:srgbClr val="A41A46"/>
                </a:solidFill>
                <a:latin typeface="+mj-lt"/>
                <a:ea typeface="Montserrat"/>
                <a:cs typeface="Arial Black"/>
                <a:sym typeface="Arial Black"/>
              </a:rPr>
              <a:t>90</a:t>
            </a:r>
            <a:r>
              <a:rPr lang="ru-RU" sz="13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 БАЛЛОВ</a:t>
            </a:r>
            <a:endParaRPr sz="1300" dirty="0">
              <a:solidFill>
                <a:srgbClr val="A41A46"/>
              </a:solidFill>
              <a:latin typeface="+mj-lt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      +</a:t>
            </a:r>
            <a:endParaRPr sz="1300" dirty="0">
              <a:solidFill>
                <a:srgbClr val="A41A46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устный экзамен:     </a:t>
            </a:r>
            <a:r>
              <a:rPr lang="en-US" sz="1300" dirty="0">
                <a:solidFill>
                  <a:srgbClr val="A41A46"/>
                </a:solidFill>
                <a:latin typeface="+mj-lt"/>
                <a:ea typeface="Montserrat"/>
                <a:cs typeface="Arial Black"/>
                <a:sym typeface="Arial Black"/>
              </a:rPr>
              <a:t>30</a:t>
            </a:r>
            <a:r>
              <a:rPr lang="ru-RU" sz="13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 БАЛЛОВ</a:t>
            </a:r>
            <a:endParaRPr sz="1300" dirty="0">
              <a:solidFill>
                <a:srgbClr val="A41A46"/>
              </a:solidFill>
              <a:latin typeface="+mj-lt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       =</a:t>
            </a:r>
            <a:endParaRPr sz="1800" dirty="0">
              <a:solidFill>
                <a:srgbClr val="A41A46"/>
              </a:solidFill>
              <a:latin typeface="+mj-lt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максимум за курс:</a:t>
            </a:r>
            <a:r>
              <a:rPr lang="ru-RU" sz="1300" dirty="0">
                <a:solidFill>
                  <a:schemeClr val="dk1"/>
                </a:solidFill>
                <a:latin typeface="+mj-lt"/>
                <a:ea typeface="Arial Black"/>
                <a:cs typeface="Arial Black"/>
                <a:sym typeface="Arial Black"/>
              </a:rPr>
              <a:t> </a:t>
            </a:r>
            <a:r>
              <a:rPr lang="ru-RU" sz="13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1</a:t>
            </a:r>
            <a:r>
              <a:rPr lang="en-US" sz="13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20</a:t>
            </a:r>
            <a:r>
              <a:rPr lang="ru-RU" sz="13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 БАЛЛА</a:t>
            </a:r>
            <a:endParaRPr sz="1300" dirty="0">
              <a:solidFill>
                <a:srgbClr val="A41A46"/>
              </a:solidFill>
              <a:latin typeface="+mj-lt"/>
              <a:ea typeface="Arial Black"/>
              <a:cs typeface="Arial Black"/>
              <a:sym typeface="Arial Black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Финальная оценка выставляется по формуле: </a:t>
            </a:r>
            <a:endParaRPr sz="1300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min(</a:t>
            </a:r>
            <a:r>
              <a:rPr lang="ru-RU" sz="1700" dirty="0" err="1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floor</a:t>
            </a:r>
            <a:r>
              <a:rPr lang="ru-RU" sz="17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(#баллов/</a:t>
            </a:r>
            <a:r>
              <a:rPr lang="en-US" sz="17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10</a:t>
            </a:r>
            <a:r>
              <a:rPr lang="ru-RU" sz="17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)</a:t>
            </a:r>
            <a:r>
              <a:rPr lang="en-US" sz="17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, 10)</a:t>
            </a:r>
            <a:endParaRPr sz="1700" dirty="0">
              <a:solidFill>
                <a:srgbClr val="A41A46"/>
              </a:solidFill>
              <a:latin typeface="+mj-lt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041A35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0" name="Google Shape;180;p4"/>
          <p:cNvGrpSpPr/>
          <p:nvPr/>
        </p:nvGrpSpPr>
        <p:grpSpPr>
          <a:xfrm>
            <a:off x="547794" y="1897106"/>
            <a:ext cx="287385" cy="265177"/>
            <a:chOff x="2403" y="1737"/>
            <a:chExt cx="427" cy="394"/>
          </a:xfrm>
          <a:solidFill>
            <a:srgbClr val="A41A46"/>
          </a:solidFill>
        </p:grpSpPr>
        <p:sp>
          <p:nvSpPr>
            <p:cNvPr id="181" name="Google Shape;181;p4"/>
            <p:cNvSpPr/>
            <p:nvPr/>
          </p:nvSpPr>
          <p:spPr>
            <a:xfrm>
              <a:off x="2403" y="1737"/>
              <a:ext cx="427" cy="394"/>
            </a:xfrm>
            <a:custGeom>
              <a:avLst/>
              <a:gdLst/>
              <a:ahLst/>
              <a:cxnLst/>
              <a:rect l="l" t="t" r="r" b="b"/>
              <a:pathLst>
                <a:path w="288" h="267" extrusionOk="0">
                  <a:moveTo>
                    <a:pt x="16" y="267"/>
                  </a:moveTo>
                  <a:cubicBezTo>
                    <a:pt x="15" y="267"/>
                    <a:pt x="13" y="267"/>
                    <a:pt x="12" y="266"/>
                  </a:cubicBezTo>
                  <a:cubicBezTo>
                    <a:pt x="10" y="264"/>
                    <a:pt x="10" y="261"/>
                    <a:pt x="11" y="259"/>
                  </a:cubicBezTo>
                  <a:cubicBezTo>
                    <a:pt x="40" y="201"/>
                    <a:pt x="40" y="201"/>
                    <a:pt x="40" y="201"/>
                  </a:cubicBezTo>
                  <a:cubicBezTo>
                    <a:pt x="14" y="179"/>
                    <a:pt x="0" y="150"/>
                    <a:pt x="0" y="119"/>
                  </a:cubicBezTo>
                  <a:cubicBezTo>
                    <a:pt x="0" y="54"/>
                    <a:pt x="64" y="0"/>
                    <a:pt x="144" y="0"/>
                  </a:cubicBezTo>
                  <a:cubicBezTo>
                    <a:pt x="223" y="0"/>
                    <a:pt x="288" y="54"/>
                    <a:pt x="288" y="119"/>
                  </a:cubicBezTo>
                  <a:cubicBezTo>
                    <a:pt x="288" y="184"/>
                    <a:pt x="223" y="238"/>
                    <a:pt x="144" y="238"/>
                  </a:cubicBezTo>
                  <a:cubicBezTo>
                    <a:pt x="127" y="238"/>
                    <a:pt x="111" y="235"/>
                    <a:pt x="96" y="231"/>
                  </a:cubicBezTo>
                  <a:cubicBezTo>
                    <a:pt x="19" y="267"/>
                    <a:pt x="19" y="267"/>
                    <a:pt x="19" y="267"/>
                  </a:cubicBezTo>
                  <a:cubicBezTo>
                    <a:pt x="18" y="267"/>
                    <a:pt x="17" y="267"/>
                    <a:pt x="16" y="267"/>
                  </a:cubicBezTo>
                  <a:close/>
                  <a:moveTo>
                    <a:pt x="144" y="12"/>
                  </a:moveTo>
                  <a:cubicBezTo>
                    <a:pt x="71" y="12"/>
                    <a:pt x="12" y="60"/>
                    <a:pt x="12" y="119"/>
                  </a:cubicBezTo>
                  <a:cubicBezTo>
                    <a:pt x="12" y="148"/>
                    <a:pt x="26" y="174"/>
                    <a:pt x="51" y="195"/>
                  </a:cubicBezTo>
                  <a:cubicBezTo>
                    <a:pt x="53" y="196"/>
                    <a:pt x="54" y="200"/>
                    <a:pt x="53" y="202"/>
                  </a:cubicBezTo>
                  <a:cubicBezTo>
                    <a:pt x="29" y="249"/>
                    <a:pt x="29" y="249"/>
                    <a:pt x="29" y="249"/>
                  </a:cubicBezTo>
                  <a:cubicBezTo>
                    <a:pt x="93" y="219"/>
                    <a:pt x="93" y="219"/>
                    <a:pt x="93" y="219"/>
                  </a:cubicBezTo>
                  <a:cubicBezTo>
                    <a:pt x="94" y="218"/>
                    <a:pt x="96" y="218"/>
                    <a:pt x="97" y="219"/>
                  </a:cubicBezTo>
                  <a:cubicBezTo>
                    <a:pt x="112" y="223"/>
                    <a:pt x="128" y="226"/>
                    <a:pt x="144" y="226"/>
                  </a:cubicBezTo>
                  <a:cubicBezTo>
                    <a:pt x="217" y="226"/>
                    <a:pt x="276" y="178"/>
                    <a:pt x="276" y="119"/>
                  </a:cubicBezTo>
                  <a:cubicBezTo>
                    <a:pt x="276" y="60"/>
                    <a:pt x="217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2528" y="1864"/>
              <a:ext cx="133" cy="18"/>
            </a:xfrm>
            <a:custGeom>
              <a:avLst/>
              <a:gdLst/>
              <a:ahLst/>
              <a:cxnLst/>
              <a:rect l="l" t="t" r="r" b="b"/>
              <a:pathLst>
                <a:path w="90" h="12" extrusionOk="0">
                  <a:moveTo>
                    <a:pt x="8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7" y="0"/>
                    <a:pt x="90" y="3"/>
                    <a:pt x="90" y="6"/>
                  </a:cubicBezTo>
                  <a:cubicBezTo>
                    <a:pt x="90" y="9"/>
                    <a:pt x="87" y="12"/>
                    <a:pt x="84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2528" y="1917"/>
              <a:ext cx="186" cy="18"/>
            </a:xfrm>
            <a:custGeom>
              <a:avLst/>
              <a:gdLst/>
              <a:ahLst/>
              <a:cxnLst/>
              <a:rect l="l" t="t" r="r" b="b"/>
              <a:pathLst>
                <a:path w="126" h="12" extrusionOk="0">
                  <a:moveTo>
                    <a:pt x="12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3" y="0"/>
                    <a:pt x="126" y="3"/>
                    <a:pt x="126" y="6"/>
                  </a:cubicBezTo>
                  <a:cubicBezTo>
                    <a:pt x="126" y="9"/>
                    <a:pt x="123" y="12"/>
                    <a:pt x="120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2528" y="1970"/>
              <a:ext cx="186" cy="18"/>
            </a:xfrm>
            <a:custGeom>
              <a:avLst/>
              <a:gdLst/>
              <a:ahLst/>
              <a:cxnLst/>
              <a:rect l="l" t="t" r="r" b="b"/>
              <a:pathLst>
                <a:path w="126" h="12" extrusionOk="0">
                  <a:moveTo>
                    <a:pt x="12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3" y="0"/>
                    <a:pt x="126" y="3"/>
                    <a:pt x="126" y="6"/>
                  </a:cubicBezTo>
                  <a:cubicBezTo>
                    <a:pt x="126" y="9"/>
                    <a:pt x="123" y="12"/>
                    <a:pt x="120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4"/>
          <p:cNvGrpSpPr/>
          <p:nvPr/>
        </p:nvGrpSpPr>
        <p:grpSpPr>
          <a:xfrm>
            <a:off x="523675" y="4812023"/>
            <a:ext cx="287375" cy="265175"/>
            <a:chOff x="2400" y="1718"/>
            <a:chExt cx="427" cy="428"/>
          </a:xfrm>
          <a:solidFill>
            <a:srgbClr val="A41A46"/>
          </a:solidFill>
        </p:grpSpPr>
        <p:sp>
          <p:nvSpPr>
            <p:cNvPr id="186" name="Google Shape;186;p4"/>
            <p:cNvSpPr/>
            <p:nvPr/>
          </p:nvSpPr>
          <p:spPr>
            <a:xfrm>
              <a:off x="2400" y="1844"/>
              <a:ext cx="427" cy="17"/>
            </a:xfrm>
            <a:custGeom>
              <a:avLst/>
              <a:gdLst/>
              <a:ahLst/>
              <a:cxnLst/>
              <a:rect l="l" t="t" r="r" b="b"/>
              <a:pathLst>
                <a:path w="288" h="12" extrusionOk="0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9"/>
                    <a:pt x="285" y="12"/>
                    <a:pt x="282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2400" y="1719"/>
              <a:ext cx="427" cy="427"/>
            </a:xfrm>
            <a:custGeom>
              <a:avLst/>
              <a:gdLst/>
              <a:ahLst/>
              <a:cxnLst/>
              <a:rect l="l" t="t" r="r" b="b"/>
              <a:pathLst>
                <a:path w="288" h="288" extrusionOk="0">
                  <a:moveTo>
                    <a:pt x="144" y="288"/>
                  </a:moveTo>
                  <a:cubicBezTo>
                    <a:pt x="142" y="288"/>
                    <a:pt x="140" y="287"/>
                    <a:pt x="139" y="285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0" y="91"/>
                    <a:pt x="0" y="88"/>
                    <a:pt x="1" y="86"/>
                  </a:cubicBezTo>
                  <a:cubicBezTo>
                    <a:pt x="61" y="2"/>
                    <a:pt x="61" y="2"/>
                    <a:pt x="61" y="2"/>
                  </a:cubicBezTo>
                  <a:cubicBezTo>
                    <a:pt x="62" y="1"/>
                    <a:pt x="64" y="0"/>
                    <a:pt x="66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24" y="0"/>
                    <a:pt x="226" y="1"/>
                    <a:pt x="227" y="2"/>
                  </a:cubicBezTo>
                  <a:cubicBezTo>
                    <a:pt x="287" y="86"/>
                    <a:pt x="287" y="86"/>
                    <a:pt x="287" y="86"/>
                  </a:cubicBezTo>
                  <a:cubicBezTo>
                    <a:pt x="288" y="88"/>
                    <a:pt x="288" y="91"/>
                    <a:pt x="287" y="93"/>
                  </a:cubicBezTo>
                  <a:cubicBezTo>
                    <a:pt x="149" y="285"/>
                    <a:pt x="149" y="285"/>
                    <a:pt x="149" y="285"/>
                  </a:cubicBezTo>
                  <a:cubicBezTo>
                    <a:pt x="148" y="287"/>
                    <a:pt x="146" y="288"/>
                    <a:pt x="144" y="288"/>
                  </a:cubicBezTo>
                  <a:close/>
                  <a:moveTo>
                    <a:pt x="13" y="90"/>
                  </a:moveTo>
                  <a:cubicBezTo>
                    <a:pt x="144" y="272"/>
                    <a:pt x="144" y="272"/>
                    <a:pt x="144" y="272"/>
                  </a:cubicBezTo>
                  <a:cubicBezTo>
                    <a:pt x="275" y="90"/>
                    <a:pt x="275" y="90"/>
                    <a:pt x="275" y="90"/>
                  </a:cubicBezTo>
                  <a:cubicBezTo>
                    <a:pt x="219" y="12"/>
                    <a:pt x="219" y="12"/>
                    <a:pt x="219" y="12"/>
                  </a:cubicBezTo>
                  <a:cubicBezTo>
                    <a:pt x="69" y="12"/>
                    <a:pt x="69" y="12"/>
                    <a:pt x="69" y="12"/>
                  </a:cubicBezTo>
                  <a:lnTo>
                    <a:pt x="13" y="9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4"/>
            <p:cNvSpPr/>
            <p:nvPr/>
          </p:nvSpPr>
          <p:spPr>
            <a:xfrm>
              <a:off x="2525" y="1718"/>
              <a:ext cx="177" cy="428"/>
            </a:xfrm>
            <a:custGeom>
              <a:avLst/>
              <a:gdLst/>
              <a:ahLst/>
              <a:cxnLst/>
              <a:rect l="l" t="t" r="r" b="b"/>
              <a:pathLst>
                <a:path w="120" h="289" extrusionOk="0">
                  <a:moveTo>
                    <a:pt x="60" y="289"/>
                  </a:moveTo>
                  <a:cubicBezTo>
                    <a:pt x="57" y="289"/>
                    <a:pt x="55" y="287"/>
                    <a:pt x="54" y="28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1"/>
                    <a:pt x="0" y="89"/>
                    <a:pt x="1" y="88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57" y="0"/>
                    <a:pt x="63" y="0"/>
                    <a:pt x="65" y="4"/>
                  </a:cubicBezTo>
                  <a:cubicBezTo>
                    <a:pt x="119" y="88"/>
                    <a:pt x="119" y="88"/>
                    <a:pt x="119" y="88"/>
                  </a:cubicBezTo>
                  <a:cubicBezTo>
                    <a:pt x="120" y="89"/>
                    <a:pt x="120" y="91"/>
                    <a:pt x="120" y="92"/>
                  </a:cubicBezTo>
                  <a:cubicBezTo>
                    <a:pt x="66" y="284"/>
                    <a:pt x="66" y="284"/>
                    <a:pt x="66" y="284"/>
                  </a:cubicBezTo>
                  <a:cubicBezTo>
                    <a:pt x="65" y="287"/>
                    <a:pt x="63" y="289"/>
                    <a:pt x="60" y="289"/>
                  </a:cubicBezTo>
                  <a:close/>
                  <a:moveTo>
                    <a:pt x="13" y="92"/>
                  </a:moveTo>
                  <a:cubicBezTo>
                    <a:pt x="60" y="261"/>
                    <a:pt x="60" y="261"/>
                    <a:pt x="60" y="261"/>
                  </a:cubicBezTo>
                  <a:cubicBezTo>
                    <a:pt x="108" y="92"/>
                    <a:pt x="108" y="92"/>
                    <a:pt x="108" y="92"/>
                  </a:cubicBezTo>
                  <a:cubicBezTo>
                    <a:pt x="60" y="18"/>
                    <a:pt x="60" y="18"/>
                    <a:pt x="60" y="18"/>
                  </a:cubicBezTo>
                  <a:lnTo>
                    <a:pt x="13" y="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2488" y="1718"/>
              <a:ext cx="56" cy="143"/>
            </a:xfrm>
            <a:custGeom>
              <a:avLst/>
              <a:gdLst/>
              <a:ahLst/>
              <a:cxnLst/>
              <a:rect l="l" t="t" r="r" b="b"/>
              <a:pathLst>
                <a:path w="38" h="97" extrusionOk="0">
                  <a:moveTo>
                    <a:pt x="31" y="97"/>
                  </a:moveTo>
                  <a:cubicBezTo>
                    <a:pt x="28" y="97"/>
                    <a:pt x="26" y="95"/>
                    <a:pt x="25" y="92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5"/>
                    <a:pt x="2" y="2"/>
                    <a:pt x="5" y="1"/>
                  </a:cubicBezTo>
                  <a:cubicBezTo>
                    <a:pt x="9" y="0"/>
                    <a:pt x="12" y="2"/>
                    <a:pt x="13" y="5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8" y="92"/>
                    <a:pt x="36" y="96"/>
                    <a:pt x="33" y="97"/>
                  </a:cubicBezTo>
                  <a:cubicBezTo>
                    <a:pt x="32" y="97"/>
                    <a:pt x="32" y="97"/>
                    <a:pt x="31" y="9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2683" y="1718"/>
              <a:ext cx="56" cy="143"/>
            </a:xfrm>
            <a:custGeom>
              <a:avLst/>
              <a:gdLst/>
              <a:ahLst/>
              <a:cxnLst/>
              <a:rect l="l" t="t" r="r" b="b"/>
              <a:pathLst>
                <a:path w="38" h="97" extrusionOk="0">
                  <a:moveTo>
                    <a:pt x="7" y="97"/>
                  </a:moveTo>
                  <a:cubicBezTo>
                    <a:pt x="6" y="97"/>
                    <a:pt x="6" y="97"/>
                    <a:pt x="5" y="97"/>
                  </a:cubicBezTo>
                  <a:cubicBezTo>
                    <a:pt x="2" y="96"/>
                    <a:pt x="0" y="92"/>
                    <a:pt x="1" y="89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6" y="2"/>
                    <a:pt x="30" y="0"/>
                    <a:pt x="33" y="1"/>
                  </a:cubicBezTo>
                  <a:cubicBezTo>
                    <a:pt x="36" y="2"/>
                    <a:pt x="38" y="5"/>
                    <a:pt x="37" y="8"/>
                  </a:cubicBezTo>
                  <a:cubicBezTo>
                    <a:pt x="13" y="92"/>
                    <a:pt x="13" y="92"/>
                    <a:pt x="13" y="92"/>
                  </a:cubicBezTo>
                  <a:cubicBezTo>
                    <a:pt x="12" y="95"/>
                    <a:pt x="10" y="97"/>
                    <a:pt x="7" y="9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91" name="Google Shape;191;p4"/>
          <p:cNvGraphicFramePr/>
          <p:nvPr>
            <p:extLst>
              <p:ext uri="{D42A27DB-BD31-4B8C-83A1-F6EECF244321}">
                <p14:modId xmlns:p14="http://schemas.microsoft.com/office/powerpoint/2010/main" val="429752975"/>
              </p:ext>
            </p:extLst>
          </p:nvPr>
        </p:nvGraphicFramePr>
        <p:xfrm>
          <a:off x="4228479" y="933762"/>
          <a:ext cx="7698621" cy="5588698"/>
        </p:xfrm>
        <a:graphic>
          <a:graphicData uri="http://schemas.openxmlformats.org/drawingml/2006/table">
            <a:tbl>
              <a:tblPr firstRow="1" bandRow="1">
                <a:noFill/>
                <a:tableStyleId>{85850DEF-275C-4A7F-8C00-A23EA184C444}</a:tableStyleId>
              </a:tblPr>
              <a:tblGrid>
                <a:gridCol w="398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00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33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0" u="none" strike="noStrike" cap="none" dirty="0">
                          <a:solidFill>
                            <a:schemeClr val="tx1"/>
                          </a:solidFill>
                          <a:latin typeface="+mj-lt"/>
                          <a:ea typeface="Arial Black"/>
                          <a:cs typeface="Calibri" panose="020F0502020204030204" pitchFamily="34" charset="0"/>
                          <a:sym typeface="Arial Black"/>
                        </a:rPr>
                        <a:t>№</a:t>
                      </a:r>
                      <a:endParaRPr sz="1200" dirty="0">
                        <a:solidFill>
                          <a:schemeClr val="tx1"/>
                        </a:solidFill>
                        <a:latin typeface="+mj-lt"/>
                        <a:ea typeface="Arial Black"/>
                        <a:cs typeface="Calibri" panose="020F0502020204030204" pitchFamily="34" charset="0"/>
                        <a:sym typeface="Arial Black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+mj-lt"/>
                          <a:ea typeface="Arial Black"/>
                          <a:cs typeface="Calibri" panose="020F0502020204030204" pitchFamily="34" charset="0"/>
                          <a:sym typeface="Arial Black"/>
                        </a:rPr>
                        <a:t>ТЕМА ЛЕКЦИИ</a:t>
                      </a:r>
                      <a:endParaRPr sz="1200" dirty="0">
                        <a:solidFill>
                          <a:schemeClr val="tx1"/>
                        </a:solidFill>
                        <a:latin typeface="+mj-lt"/>
                        <a:ea typeface="Arial Black"/>
                        <a:cs typeface="Calibri" panose="020F0502020204030204" pitchFamily="34" charset="0"/>
                        <a:sym typeface="Arial Black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latin typeface="+mj-lt"/>
                          <a:ea typeface="Montserrat"/>
                          <a:cs typeface="Calibri" panose="020F0502020204030204" pitchFamily="34" charset="0"/>
                          <a:sym typeface="Montserrat"/>
                        </a:rPr>
                        <a:t>1</a:t>
                      </a:r>
                      <a:endParaRPr sz="1200" dirty="0">
                        <a:solidFill>
                          <a:schemeClr val="tx1"/>
                        </a:solidFill>
                        <a:latin typeface="+mj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   Logistics. Generative models overview and motivation. Problem statement. Divergence minimization framework. Autoregressive models (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ImageGPT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).</a:t>
                      </a:r>
                      <a:endParaRPr lang="ru-RU" sz="1200" b="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latin typeface="+mj-lt"/>
                          <a:ea typeface="Montserrat"/>
                          <a:cs typeface="Calibri" panose="020F0502020204030204" pitchFamily="34" charset="0"/>
                          <a:sym typeface="Montserrat"/>
                        </a:rPr>
                        <a:t>2</a:t>
                      </a:r>
                      <a:endParaRPr sz="1200" dirty="0">
                        <a:solidFill>
                          <a:schemeClr val="tx1"/>
                        </a:solidFill>
                        <a:latin typeface="+mj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Normalizing Flow (NF). Linear NF. Gaussian autoregressive NF. Coupling layer (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RealNVP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). Latent Variable Models (LVM).</a:t>
                      </a: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latin typeface="+mj-lt"/>
                          <a:ea typeface="Montserrat"/>
                          <a:cs typeface="Calibri" panose="020F0502020204030204" pitchFamily="34" charset="0"/>
                          <a:sym typeface="Montserrat"/>
                        </a:rPr>
                        <a:t>3</a:t>
                      </a:r>
                      <a:endParaRPr sz="1200">
                        <a:solidFill>
                          <a:schemeClr val="tx1"/>
                        </a:solidFill>
                        <a:latin typeface="+mj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spcBef>
                          <a:spcPts val="0"/>
                        </a:spcBef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Latent variable models (LVM). Variational lower bound (ELBO). </a:t>
                      </a: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А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mortized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 inference. ELBO gradients,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reparametrization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 trick. Variational Autoencoder (VAE).</a:t>
                      </a:r>
                      <a:endParaRPr lang="ru-RU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00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latin typeface="+mj-lt"/>
                          <a:ea typeface="Montserrat"/>
                          <a:cs typeface="Calibri" panose="020F0502020204030204" pitchFamily="34" charset="0"/>
                          <a:sym typeface="Montserrat"/>
                        </a:rPr>
                        <a:t>4</a:t>
                      </a:r>
                      <a:endParaRPr sz="1200">
                        <a:solidFill>
                          <a:schemeClr val="tx1"/>
                        </a:solidFill>
                        <a:latin typeface="+mj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spcBef>
                          <a:spcPts val="0"/>
                        </a:spcBef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Discrete VAE latent representations. Vector quantization, straight-through gradient estimation (VQ-VAE). ELBO surgery and optimal VAE prior. Learnable VAE prior.</a:t>
                      </a: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latin typeface="+mj-lt"/>
                          <a:ea typeface="Montserrat"/>
                          <a:cs typeface="Calibri" panose="020F0502020204030204" pitchFamily="34" charset="0"/>
                          <a:sym typeface="Montserrat"/>
                        </a:rPr>
                        <a:t>5</a:t>
                      </a:r>
                      <a:endParaRPr sz="1200">
                        <a:solidFill>
                          <a:schemeClr val="tx1"/>
                        </a:solidFill>
                        <a:latin typeface="+mj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Likelihood-free learning. GAN optimality theorem. Wasserstein distance. Wasserstein GAN (WGAN).</a:t>
                      </a:r>
                      <a:endParaRPr lang="ru-RU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latin typeface="+mj-lt"/>
                          <a:ea typeface="Montserrat"/>
                          <a:cs typeface="Calibri" panose="020F0502020204030204" pitchFamily="34" charset="0"/>
                          <a:sym typeface="Montserrat"/>
                        </a:rPr>
                        <a:t>6</a:t>
                      </a:r>
                      <a:endParaRPr sz="1200">
                        <a:solidFill>
                          <a:schemeClr val="tx1"/>
                        </a:solidFill>
                        <a:latin typeface="+mj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Evaluation of generative models (FID, Precision-Recall, CLIP score, human eval). Langevin dynamic. Score matching. Denoising score matching.</a:t>
                      </a: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latin typeface="+mj-lt"/>
                          <a:ea typeface="Montserrat"/>
                          <a:cs typeface="Calibri" panose="020F0502020204030204" pitchFamily="34" charset="0"/>
                          <a:sym typeface="Montserrat"/>
                        </a:rPr>
                        <a:t>7</a:t>
                      </a:r>
                      <a:endParaRPr sz="1200">
                        <a:solidFill>
                          <a:schemeClr val="tx1"/>
                        </a:solidFill>
                        <a:latin typeface="+mj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Denoising score matching. Noise Conditioned Score Network (NCSN). Forward gaussian diffusion process. Denoising score matching for diffusion. Reverse Gaussian diffusion process.</a:t>
                      </a: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latin typeface="+mj-lt"/>
                          <a:ea typeface="Montserrat"/>
                          <a:cs typeface="Calibri" panose="020F0502020204030204" pitchFamily="34" charset="0"/>
                          <a:sym typeface="Montserrat"/>
                        </a:rPr>
                        <a:t>8</a:t>
                      </a:r>
                      <a:endParaRPr sz="1200">
                        <a:solidFill>
                          <a:schemeClr val="tx1"/>
                        </a:solidFill>
                        <a:latin typeface="+mj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spcBef>
                          <a:spcPts val="0"/>
                        </a:spcBef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Gaussian diffusion model as VAE. ELBO for Denoising diffusion probabilistic model (DDPM).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Reparametrization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 and overview of DDPM.</a:t>
                      </a: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30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latin typeface="+mj-lt"/>
                          <a:ea typeface="Montserrat"/>
                          <a:cs typeface="Calibri" panose="020F0502020204030204" pitchFamily="34" charset="0"/>
                          <a:sym typeface="Montserrat"/>
                        </a:rPr>
                        <a:t>9</a:t>
                      </a:r>
                      <a:endParaRPr sz="1200">
                        <a:solidFill>
                          <a:schemeClr val="tx1"/>
                        </a:solidFill>
                        <a:latin typeface="+mj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Denoising diffusion as score-based generative model. Model guidance: classifier guidance,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classfier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-free guidance. Continuous-in-time NF and neural ODE.</a:t>
                      </a: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122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latin typeface="+mj-lt"/>
                          <a:ea typeface="Montserrat"/>
                          <a:cs typeface="Calibri" panose="020F0502020204030204" pitchFamily="34" charset="0"/>
                          <a:sym typeface="Montserrat"/>
                        </a:rPr>
                        <a:t>10</a:t>
                      </a:r>
                      <a:endParaRPr sz="1200">
                        <a:solidFill>
                          <a:schemeClr val="tx1"/>
                        </a:solidFill>
                        <a:latin typeface="+mj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spcBef>
                          <a:spcPts val="0"/>
                        </a:spcBef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Continuity equation for NF log-likelihood. SDE basics. Kolmogorov-Fokker-Planck equation. Probability flow ODE. Reverse SDE.</a:t>
                      </a:r>
                      <a:endParaRPr lang="ru-RU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7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latin typeface="+mj-lt"/>
                          <a:ea typeface="Montserrat"/>
                          <a:cs typeface="Calibri" panose="020F0502020204030204" pitchFamily="34" charset="0"/>
                          <a:sym typeface="Montserrat"/>
                        </a:rPr>
                        <a:t>11</a:t>
                      </a:r>
                      <a:endParaRPr sz="1200">
                        <a:solidFill>
                          <a:schemeClr val="tx1"/>
                        </a:solidFill>
                        <a:latin typeface="+mj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spcBef>
                          <a:spcPts val="0"/>
                        </a:spcBef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Variance Preserving and Variance Exploding SDEs. Score-based generative models through SDE. Flow matching.</a:t>
                      </a: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7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latin typeface="+mj-lt"/>
                          <a:ea typeface="Montserrat"/>
                          <a:cs typeface="Calibri" panose="020F0502020204030204" pitchFamily="34" charset="0"/>
                          <a:sym typeface="Montserrat"/>
                        </a:rPr>
                        <a:t>12</a:t>
                      </a:r>
                      <a:endParaRPr sz="1200">
                        <a:solidFill>
                          <a:schemeClr val="tx1"/>
                        </a:solidFill>
                        <a:latin typeface="+mj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spcBef>
                          <a:spcPts val="0"/>
                        </a:spcBef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Conditional flow matching. Conical gaussian paths. Linear interpolation.</a:t>
                      </a:r>
                      <a:endParaRPr lang="ru-RU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7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latin typeface="+mj-lt"/>
                          <a:ea typeface="Montserrat"/>
                          <a:cs typeface="Calibri" panose="020F0502020204030204" pitchFamily="34" charset="0"/>
                          <a:sym typeface="Montserrat"/>
                        </a:rPr>
                        <a:t>13</a:t>
                      </a:r>
                      <a:endParaRPr sz="1200">
                        <a:solidFill>
                          <a:schemeClr val="tx1"/>
                        </a:solidFill>
                        <a:latin typeface="+mj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spcBef>
                          <a:spcPts val="0"/>
                        </a:spcBef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Link with diffusion and score matching. Discrete diffusion motivation. Forward discrete process. Reverse discrete process. Discrete ELBO objective.</a:t>
                      </a:r>
                      <a:endParaRPr lang="ru-RU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7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latin typeface="+mj-lt"/>
                          <a:ea typeface="Montserrat"/>
                          <a:cs typeface="Calibri" panose="020F0502020204030204" pitchFamily="34" charset="0"/>
                          <a:sym typeface="Montserrat"/>
                        </a:rPr>
                        <a:t>14</a:t>
                      </a:r>
                      <a:endParaRPr sz="1200">
                        <a:solidFill>
                          <a:schemeClr val="tx1"/>
                        </a:solidFill>
                        <a:latin typeface="+mj-lt"/>
                        <a:ea typeface="Montserrat"/>
                        <a:cs typeface="Calibri" panose="020F0502020204030204" pitchFamily="34" charset="0"/>
                        <a:sym typeface="Montserra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spcBef>
                          <a:spcPts val="0"/>
                        </a:spcBef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Calibri"/>
                          <a:cs typeface="Calibri" panose="020F0502020204030204" pitchFamily="34" charset="0"/>
                          <a:sym typeface="Arial"/>
                        </a:rPr>
                        <a:t>Discrete diffusion for sequence. Absorbing diffusion. Continuous-time masked diffusion language model. Course overview.</a:t>
                      </a:r>
                      <a:endParaRPr lang="en-US" sz="1200" b="0" i="0" u="none" strike="noStrike" cap="none" dirty="0">
                        <a:solidFill>
                          <a:schemeClr val="tx1"/>
                        </a:solidFill>
                        <a:effectLst/>
                        <a:latin typeface="+mj-lt"/>
                        <a:ea typeface="Calibri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92" name="Google Shape;192;p4"/>
          <p:cNvSpPr/>
          <p:nvPr/>
        </p:nvSpPr>
        <p:spPr>
          <a:xfrm>
            <a:off x="459175" y="933738"/>
            <a:ext cx="3655800" cy="4371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СТРУКТУРА КУРСА</a:t>
            </a:r>
            <a:endParaRPr dirty="0">
              <a:solidFill>
                <a:srgbClr val="A41A46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3" name="Google Shape;193;p4"/>
          <p:cNvGrpSpPr/>
          <p:nvPr/>
        </p:nvGrpSpPr>
        <p:grpSpPr>
          <a:xfrm>
            <a:off x="523681" y="4313381"/>
            <a:ext cx="287358" cy="265059"/>
            <a:chOff x="2403" y="1737"/>
            <a:chExt cx="427" cy="394"/>
          </a:xfrm>
          <a:solidFill>
            <a:srgbClr val="A41A46"/>
          </a:solidFill>
        </p:grpSpPr>
        <p:sp>
          <p:nvSpPr>
            <p:cNvPr id="194" name="Google Shape;194;p4"/>
            <p:cNvSpPr/>
            <p:nvPr/>
          </p:nvSpPr>
          <p:spPr>
            <a:xfrm>
              <a:off x="2403" y="1737"/>
              <a:ext cx="427" cy="394"/>
            </a:xfrm>
            <a:custGeom>
              <a:avLst/>
              <a:gdLst/>
              <a:ahLst/>
              <a:cxnLst/>
              <a:rect l="l" t="t" r="r" b="b"/>
              <a:pathLst>
                <a:path w="288" h="267" extrusionOk="0">
                  <a:moveTo>
                    <a:pt x="16" y="267"/>
                  </a:moveTo>
                  <a:cubicBezTo>
                    <a:pt x="15" y="267"/>
                    <a:pt x="13" y="267"/>
                    <a:pt x="12" y="266"/>
                  </a:cubicBezTo>
                  <a:cubicBezTo>
                    <a:pt x="10" y="264"/>
                    <a:pt x="10" y="261"/>
                    <a:pt x="11" y="259"/>
                  </a:cubicBezTo>
                  <a:cubicBezTo>
                    <a:pt x="40" y="201"/>
                    <a:pt x="40" y="201"/>
                    <a:pt x="40" y="201"/>
                  </a:cubicBezTo>
                  <a:cubicBezTo>
                    <a:pt x="14" y="179"/>
                    <a:pt x="0" y="150"/>
                    <a:pt x="0" y="119"/>
                  </a:cubicBezTo>
                  <a:cubicBezTo>
                    <a:pt x="0" y="54"/>
                    <a:pt x="64" y="0"/>
                    <a:pt x="144" y="0"/>
                  </a:cubicBezTo>
                  <a:cubicBezTo>
                    <a:pt x="223" y="0"/>
                    <a:pt x="288" y="54"/>
                    <a:pt x="288" y="119"/>
                  </a:cubicBezTo>
                  <a:cubicBezTo>
                    <a:pt x="288" y="184"/>
                    <a:pt x="223" y="238"/>
                    <a:pt x="144" y="238"/>
                  </a:cubicBezTo>
                  <a:cubicBezTo>
                    <a:pt x="127" y="238"/>
                    <a:pt x="111" y="235"/>
                    <a:pt x="96" y="231"/>
                  </a:cubicBezTo>
                  <a:cubicBezTo>
                    <a:pt x="19" y="267"/>
                    <a:pt x="19" y="267"/>
                    <a:pt x="19" y="267"/>
                  </a:cubicBezTo>
                  <a:cubicBezTo>
                    <a:pt x="18" y="267"/>
                    <a:pt x="17" y="267"/>
                    <a:pt x="16" y="267"/>
                  </a:cubicBezTo>
                  <a:close/>
                  <a:moveTo>
                    <a:pt x="144" y="12"/>
                  </a:moveTo>
                  <a:cubicBezTo>
                    <a:pt x="71" y="12"/>
                    <a:pt x="12" y="60"/>
                    <a:pt x="12" y="119"/>
                  </a:cubicBezTo>
                  <a:cubicBezTo>
                    <a:pt x="12" y="148"/>
                    <a:pt x="26" y="174"/>
                    <a:pt x="51" y="195"/>
                  </a:cubicBezTo>
                  <a:cubicBezTo>
                    <a:pt x="53" y="196"/>
                    <a:pt x="54" y="200"/>
                    <a:pt x="53" y="202"/>
                  </a:cubicBezTo>
                  <a:cubicBezTo>
                    <a:pt x="29" y="249"/>
                    <a:pt x="29" y="249"/>
                    <a:pt x="29" y="249"/>
                  </a:cubicBezTo>
                  <a:cubicBezTo>
                    <a:pt x="93" y="219"/>
                    <a:pt x="93" y="219"/>
                    <a:pt x="93" y="219"/>
                  </a:cubicBezTo>
                  <a:cubicBezTo>
                    <a:pt x="94" y="218"/>
                    <a:pt x="96" y="218"/>
                    <a:pt x="97" y="219"/>
                  </a:cubicBezTo>
                  <a:cubicBezTo>
                    <a:pt x="112" y="223"/>
                    <a:pt x="128" y="226"/>
                    <a:pt x="144" y="226"/>
                  </a:cubicBezTo>
                  <a:cubicBezTo>
                    <a:pt x="217" y="226"/>
                    <a:pt x="276" y="178"/>
                    <a:pt x="276" y="119"/>
                  </a:cubicBezTo>
                  <a:cubicBezTo>
                    <a:pt x="276" y="60"/>
                    <a:pt x="217" y="12"/>
                    <a:pt x="144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2528" y="1864"/>
              <a:ext cx="133" cy="18"/>
            </a:xfrm>
            <a:custGeom>
              <a:avLst/>
              <a:gdLst/>
              <a:ahLst/>
              <a:cxnLst/>
              <a:rect l="l" t="t" r="r" b="b"/>
              <a:pathLst>
                <a:path w="90" h="12" extrusionOk="0">
                  <a:moveTo>
                    <a:pt x="8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7" y="0"/>
                    <a:pt x="90" y="3"/>
                    <a:pt x="90" y="6"/>
                  </a:cubicBezTo>
                  <a:cubicBezTo>
                    <a:pt x="90" y="9"/>
                    <a:pt x="87" y="12"/>
                    <a:pt x="84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4"/>
            <p:cNvSpPr/>
            <p:nvPr/>
          </p:nvSpPr>
          <p:spPr>
            <a:xfrm>
              <a:off x="2528" y="1917"/>
              <a:ext cx="186" cy="18"/>
            </a:xfrm>
            <a:custGeom>
              <a:avLst/>
              <a:gdLst/>
              <a:ahLst/>
              <a:cxnLst/>
              <a:rect l="l" t="t" r="r" b="b"/>
              <a:pathLst>
                <a:path w="126" h="12" extrusionOk="0">
                  <a:moveTo>
                    <a:pt x="12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3" y="0"/>
                    <a:pt x="126" y="3"/>
                    <a:pt x="126" y="6"/>
                  </a:cubicBezTo>
                  <a:cubicBezTo>
                    <a:pt x="126" y="9"/>
                    <a:pt x="123" y="12"/>
                    <a:pt x="120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2528" y="1970"/>
              <a:ext cx="186" cy="18"/>
            </a:xfrm>
            <a:custGeom>
              <a:avLst/>
              <a:gdLst/>
              <a:ahLst/>
              <a:cxnLst/>
              <a:rect l="l" t="t" r="r" b="b"/>
              <a:pathLst>
                <a:path w="126" h="12" extrusionOk="0">
                  <a:moveTo>
                    <a:pt x="12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3" y="0"/>
                    <a:pt x="126" y="3"/>
                    <a:pt x="126" y="6"/>
                  </a:cubicBezTo>
                  <a:cubicBezTo>
                    <a:pt x="126" y="9"/>
                    <a:pt x="123" y="12"/>
                    <a:pt x="120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4"/>
          <p:cNvGrpSpPr/>
          <p:nvPr/>
        </p:nvGrpSpPr>
        <p:grpSpPr>
          <a:xfrm>
            <a:off x="509782" y="3715149"/>
            <a:ext cx="315166" cy="275067"/>
            <a:chOff x="3437" y="3023"/>
            <a:chExt cx="426" cy="372"/>
          </a:xfrm>
          <a:solidFill>
            <a:srgbClr val="A41A46"/>
          </a:solidFill>
        </p:grpSpPr>
        <p:sp>
          <p:nvSpPr>
            <p:cNvPr id="199" name="Google Shape;199;p4"/>
            <p:cNvSpPr/>
            <p:nvPr/>
          </p:nvSpPr>
          <p:spPr>
            <a:xfrm>
              <a:off x="3570" y="3071"/>
              <a:ext cx="27" cy="82"/>
            </a:xfrm>
            <a:custGeom>
              <a:avLst/>
              <a:gdLst/>
              <a:ahLst/>
              <a:cxnLst/>
              <a:rect l="l" t="t" r="r" b="b"/>
              <a:pathLst>
                <a:path w="18" h="55" extrusionOk="0">
                  <a:moveTo>
                    <a:pt x="12" y="55"/>
                  </a:moveTo>
                  <a:cubicBezTo>
                    <a:pt x="9" y="55"/>
                    <a:pt x="6" y="52"/>
                    <a:pt x="6" y="4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7"/>
                    <a:pt x="3" y="17"/>
                    <a:pt x="3" y="16"/>
                  </a:cubicBezTo>
                  <a:cubicBezTo>
                    <a:pt x="0" y="13"/>
                    <a:pt x="0" y="10"/>
                    <a:pt x="3" y="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0" y="1"/>
                    <a:pt x="12" y="0"/>
                    <a:pt x="14" y="1"/>
                  </a:cubicBezTo>
                  <a:cubicBezTo>
                    <a:pt x="16" y="2"/>
                    <a:pt x="18" y="4"/>
                    <a:pt x="18" y="7"/>
                  </a:cubicBezTo>
                  <a:cubicBezTo>
                    <a:pt x="18" y="49"/>
                    <a:pt x="18" y="49"/>
                    <a:pt x="18" y="49"/>
                  </a:cubicBezTo>
                  <a:cubicBezTo>
                    <a:pt x="18" y="52"/>
                    <a:pt x="15" y="55"/>
                    <a:pt x="12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3509" y="3159"/>
              <a:ext cx="26" cy="81"/>
            </a:xfrm>
            <a:custGeom>
              <a:avLst/>
              <a:gdLst/>
              <a:ahLst/>
              <a:cxnLst/>
              <a:rect l="l" t="t" r="r" b="b"/>
              <a:pathLst>
                <a:path w="17" h="55" extrusionOk="0">
                  <a:moveTo>
                    <a:pt x="11" y="55"/>
                  </a:moveTo>
                  <a:cubicBezTo>
                    <a:pt x="8" y="55"/>
                    <a:pt x="5" y="52"/>
                    <a:pt x="5" y="4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7"/>
                    <a:pt x="3" y="17"/>
                    <a:pt x="2" y="16"/>
                  </a:cubicBezTo>
                  <a:cubicBezTo>
                    <a:pt x="0" y="13"/>
                    <a:pt x="0" y="10"/>
                    <a:pt x="2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9" y="1"/>
                    <a:pt x="11" y="0"/>
                    <a:pt x="14" y="1"/>
                  </a:cubicBezTo>
                  <a:cubicBezTo>
                    <a:pt x="16" y="2"/>
                    <a:pt x="17" y="4"/>
                    <a:pt x="17" y="7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52"/>
                    <a:pt x="15" y="55"/>
                    <a:pt x="1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3755" y="3071"/>
              <a:ext cx="27" cy="82"/>
            </a:xfrm>
            <a:custGeom>
              <a:avLst/>
              <a:gdLst/>
              <a:ahLst/>
              <a:cxnLst/>
              <a:rect l="l" t="t" r="r" b="b"/>
              <a:pathLst>
                <a:path w="18" h="55" extrusionOk="0">
                  <a:moveTo>
                    <a:pt x="12" y="55"/>
                  </a:moveTo>
                  <a:cubicBezTo>
                    <a:pt x="9" y="55"/>
                    <a:pt x="6" y="52"/>
                    <a:pt x="6" y="4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7"/>
                    <a:pt x="4" y="17"/>
                    <a:pt x="3" y="16"/>
                  </a:cubicBezTo>
                  <a:cubicBezTo>
                    <a:pt x="0" y="13"/>
                    <a:pt x="0" y="10"/>
                    <a:pt x="3" y="7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10" y="1"/>
                    <a:pt x="12" y="0"/>
                    <a:pt x="14" y="1"/>
                  </a:cubicBezTo>
                  <a:cubicBezTo>
                    <a:pt x="17" y="2"/>
                    <a:pt x="18" y="4"/>
                    <a:pt x="18" y="7"/>
                  </a:cubicBezTo>
                  <a:cubicBezTo>
                    <a:pt x="18" y="49"/>
                    <a:pt x="18" y="49"/>
                    <a:pt x="18" y="49"/>
                  </a:cubicBezTo>
                  <a:cubicBezTo>
                    <a:pt x="18" y="52"/>
                    <a:pt x="15" y="55"/>
                    <a:pt x="12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3755" y="3159"/>
              <a:ext cx="27" cy="81"/>
            </a:xfrm>
            <a:custGeom>
              <a:avLst/>
              <a:gdLst/>
              <a:ahLst/>
              <a:cxnLst/>
              <a:rect l="l" t="t" r="r" b="b"/>
              <a:pathLst>
                <a:path w="18" h="55" extrusionOk="0">
                  <a:moveTo>
                    <a:pt x="12" y="55"/>
                  </a:moveTo>
                  <a:cubicBezTo>
                    <a:pt x="9" y="55"/>
                    <a:pt x="6" y="52"/>
                    <a:pt x="6" y="4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5" y="17"/>
                    <a:pt x="4" y="17"/>
                    <a:pt x="3" y="16"/>
                  </a:cubicBezTo>
                  <a:cubicBezTo>
                    <a:pt x="0" y="13"/>
                    <a:pt x="0" y="10"/>
                    <a:pt x="3" y="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0" y="1"/>
                    <a:pt x="12" y="0"/>
                    <a:pt x="14" y="1"/>
                  </a:cubicBezTo>
                  <a:cubicBezTo>
                    <a:pt x="17" y="2"/>
                    <a:pt x="18" y="4"/>
                    <a:pt x="18" y="7"/>
                  </a:cubicBezTo>
                  <a:cubicBezTo>
                    <a:pt x="18" y="49"/>
                    <a:pt x="18" y="49"/>
                    <a:pt x="18" y="49"/>
                  </a:cubicBezTo>
                  <a:cubicBezTo>
                    <a:pt x="18" y="52"/>
                    <a:pt x="15" y="55"/>
                    <a:pt x="12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3694" y="3071"/>
              <a:ext cx="26" cy="82"/>
            </a:xfrm>
            <a:custGeom>
              <a:avLst/>
              <a:gdLst/>
              <a:ahLst/>
              <a:cxnLst/>
              <a:rect l="l" t="t" r="r" b="b"/>
              <a:pathLst>
                <a:path w="17" h="55" extrusionOk="0">
                  <a:moveTo>
                    <a:pt x="11" y="55"/>
                  </a:moveTo>
                  <a:cubicBezTo>
                    <a:pt x="8" y="55"/>
                    <a:pt x="5" y="52"/>
                    <a:pt x="5" y="49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4" y="17"/>
                    <a:pt x="3" y="17"/>
                    <a:pt x="2" y="16"/>
                  </a:cubicBezTo>
                  <a:cubicBezTo>
                    <a:pt x="0" y="13"/>
                    <a:pt x="0" y="10"/>
                    <a:pt x="2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6" y="2"/>
                    <a:pt x="17" y="4"/>
                    <a:pt x="17" y="7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52"/>
                    <a:pt x="15" y="55"/>
                    <a:pt x="11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3632" y="3159"/>
              <a:ext cx="27" cy="81"/>
            </a:xfrm>
            <a:custGeom>
              <a:avLst/>
              <a:gdLst/>
              <a:ahLst/>
              <a:cxnLst/>
              <a:rect l="l" t="t" r="r" b="b"/>
              <a:pathLst>
                <a:path w="18" h="55" extrusionOk="0">
                  <a:moveTo>
                    <a:pt x="12" y="55"/>
                  </a:moveTo>
                  <a:cubicBezTo>
                    <a:pt x="8" y="55"/>
                    <a:pt x="6" y="52"/>
                    <a:pt x="6" y="49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4" y="17"/>
                    <a:pt x="3" y="17"/>
                    <a:pt x="2" y="16"/>
                  </a:cubicBezTo>
                  <a:cubicBezTo>
                    <a:pt x="0" y="13"/>
                    <a:pt x="0" y="10"/>
                    <a:pt x="2" y="7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9" y="1"/>
                    <a:pt x="12" y="0"/>
                    <a:pt x="14" y="1"/>
                  </a:cubicBezTo>
                  <a:cubicBezTo>
                    <a:pt x="16" y="2"/>
                    <a:pt x="18" y="4"/>
                    <a:pt x="18" y="7"/>
                  </a:cubicBezTo>
                  <a:cubicBezTo>
                    <a:pt x="18" y="49"/>
                    <a:pt x="18" y="49"/>
                    <a:pt x="18" y="49"/>
                  </a:cubicBezTo>
                  <a:cubicBezTo>
                    <a:pt x="18" y="52"/>
                    <a:pt x="15" y="55"/>
                    <a:pt x="12" y="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3498" y="3071"/>
              <a:ext cx="50" cy="82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17" y="55"/>
                  </a:moveTo>
                  <a:cubicBezTo>
                    <a:pt x="0" y="55"/>
                    <a:pt x="0" y="35"/>
                    <a:pt x="0" y="28"/>
                  </a:cubicBezTo>
                  <a:cubicBezTo>
                    <a:pt x="0" y="20"/>
                    <a:pt x="0" y="0"/>
                    <a:pt x="17" y="0"/>
                  </a:cubicBezTo>
                  <a:cubicBezTo>
                    <a:pt x="34" y="0"/>
                    <a:pt x="34" y="20"/>
                    <a:pt x="34" y="28"/>
                  </a:cubicBezTo>
                  <a:cubicBezTo>
                    <a:pt x="34" y="35"/>
                    <a:pt x="34" y="55"/>
                    <a:pt x="17" y="55"/>
                  </a:cubicBezTo>
                  <a:close/>
                  <a:moveTo>
                    <a:pt x="17" y="12"/>
                  </a:moveTo>
                  <a:cubicBezTo>
                    <a:pt x="15" y="12"/>
                    <a:pt x="12" y="12"/>
                    <a:pt x="12" y="28"/>
                  </a:cubicBezTo>
                  <a:cubicBezTo>
                    <a:pt x="12" y="43"/>
                    <a:pt x="15" y="43"/>
                    <a:pt x="17" y="43"/>
                  </a:cubicBezTo>
                  <a:cubicBezTo>
                    <a:pt x="18" y="43"/>
                    <a:pt x="22" y="43"/>
                    <a:pt x="22" y="28"/>
                  </a:cubicBezTo>
                  <a:cubicBezTo>
                    <a:pt x="22" y="12"/>
                    <a:pt x="18" y="12"/>
                    <a:pt x="17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3620" y="3071"/>
              <a:ext cx="51" cy="82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17" y="55"/>
                  </a:moveTo>
                  <a:cubicBezTo>
                    <a:pt x="0" y="55"/>
                    <a:pt x="0" y="35"/>
                    <a:pt x="0" y="28"/>
                  </a:cubicBezTo>
                  <a:cubicBezTo>
                    <a:pt x="0" y="20"/>
                    <a:pt x="0" y="0"/>
                    <a:pt x="17" y="0"/>
                  </a:cubicBezTo>
                  <a:cubicBezTo>
                    <a:pt x="34" y="0"/>
                    <a:pt x="34" y="20"/>
                    <a:pt x="34" y="28"/>
                  </a:cubicBezTo>
                  <a:cubicBezTo>
                    <a:pt x="34" y="35"/>
                    <a:pt x="34" y="55"/>
                    <a:pt x="17" y="55"/>
                  </a:cubicBezTo>
                  <a:close/>
                  <a:moveTo>
                    <a:pt x="17" y="12"/>
                  </a:moveTo>
                  <a:cubicBezTo>
                    <a:pt x="15" y="12"/>
                    <a:pt x="12" y="12"/>
                    <a:pt x="12" y="28"/>
                  </a:cubicBezTo>
                  <a:cubicBezTo>
                    <a:pt x="12" y="43"/>
                    <a:pt x="15" y="43"/>
                    <a:pt x="17" y="43"/>
                  </a:cubicBezTo>
                  <a:cubicBezTo>
                    <a:pt x="19" y="43"/>
                    <a:pt x="22" y="43"/>
                    <a:pt x="22" y="28"/>
                  </a:cubicBezTo>
                  <a:cubicBezTo>
                    <a:pt x="22" y="12"/>
                    <a:pt x="19" y="12"/>
                    <a:pt x="17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3683" y="3159"/>
              <a:ext cx="50" cy="81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17" y="55"/>
                  </a:moveTo>
                  <a:cubicBezTo>
                    <a:pt x="0" y="55"/>
                    <a:pt x="0" y="35"/>
                    <a:pt x="0" y="28"/>
                  </a:cubicBezTo>
                  <a:cubicBezTo>
                    <a:pt x="0" y="20"/>
                    <a:pt x="0" y="0"/>
                    <a:pt x="17" y="0"/>
                  </a:cubicBezTo>
                  <a:cubicBezTo>
                    <a:pt x="34" y="0"/>
                    <a:pt x="34" y="20"/>
                    <a:pt x="34" y="28"/>
                  </a:cubicBezTo>
                  <a:cubicBezTo>
                    <a:pt x="34" y="35"/>
                    <a:pt x="34" y="55"/>
                    <a:pt x="17" y="55"/>
                  </a:cubicBezTo>
                  <a:close/>
                  <a:moveTo>
                    <a:pt x="17" y="12"/>
                  </a:moveTo>
                  <a:cubicBezTo>
                    <a:pt x="15" y="12"/>
                    <a:pt x="12" y="12"/>
                    <a:pt x="12" y="28"/>
                  </a:cubicBezTo>
                  <a:cubicBezTo>
                    <a:pt x="12" y="43"/>
                    <a:pt x="15" y="43"/>
                    <a:pt x="17" y="43"/>
                  </a:cubicBezTo>
                  <a:cubicBezTo>
                    <a:pt x="19" y="43"/>
                    <a:pt x="22" y="43"/>
                    <a:pt x="22" y="28"/>
                  </a:cubicBezTo>
                  <a:cubicBezTo>
                    <a:pt x="22" y="12"/>
                    <a:pt x="19" y="12"/>
                    <a:pt x="17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3558" y="3159"/>
              <a:ext cx="51" cy="81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17" y="55"/>
                  </a:moveTo>
                  <a:cubicBezTo>
                    <a:pt x="0" y="55"/>
                    <a:pt x="0" y="35"/>
                    <a:pt x="0" y="28"/>
                  </a:cubicBezTo>
                  <a:cubicBezTo>
                    <a:pt x="0" y="20"/>
                    <a:pt x="0" y="0"/>
                    <a:pt x="17" y="0"/>
                  </a:cubicBezTo>
                  <a:cubicBezTo>
                    <a:pt x="34" y="0"/>
                    <a:pt x="34" y="20"/>
                    <a:pt x="34" y="28"/>
                  </a:cubicBezTo>
                  <a:cubicBezTo>
                    <a:pt x="34" y="35"/>
                    <a:pt x="34" y="55"/>
                    <a:pt x="17" y="55"/>
                  </a:cubicBezTo>
                  <a:close/>
                  <a:moveTo>
                    <a:pt x="17" y="12"/>
                  </a:moveTo>
                  <a:cubicBezTo>
                    <a:pt x="16" y="12"/>
                    <a:pt x="12" y="12"/>
                    <a:pt x="12" y="28"/>
                  </a:cubicBezTo>
                  <a:cubicBezTo>
                    <a:pt x="12" y="43"/>
                    <a:pt x="16" y="43"/>
                    <a:pt x="17" y="43"/>
                  </a:cubicBezTo>
                  <a:cubicBezTo>
                    <a:pt x="19" y="43"/>
                    <a:pt x="22" y="43"/>
                    <a:pt x="22" y="28"/>
                  </a:cubicBezTo>
                  <a:cubicBezTo>
                    <a:pt x="22" y="12"/>
                    <a:pt x="19" y="12"/>
                    <a:pt x="17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3437" y="3023"/>
              <a:ext cx="426" cy="337"/>
            </a:xfrm>
            <a:custGeom>
              <a:avLst/>
              <a:gdLst/>
              <a:ahLst/>
              <a:cxnLst/>
              <a:rect l="l" t="t" r="r" b="b"/>
              <a:pathLst>
                <a:path w="288" h="228" extrusionOk="0">
                  <a:moveTo>
                    <a:pt x="264" y="228"/>
                  </a:moveTo>
                  <a:cubicBezTo>
                    <a:pt x="24" y="228"/>
                    <a:pt x="24" y="228"/>
                    <a:pt x="24" y="228"/>
                  </a:cubicBezTo>
                  <a:cubicBezTo>
                    <a:pt x="10" y="228"/>
                    <a:pt x="0" y="217"/>
                    <a:pt x="0" y="20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0" y="0"/>
                    <a:pt x="24" y="0"/>
                  </a:cubicBezTo>
                  <a:cubicBezTo>
                    <a:pt x="264" y="0"/>
                    <a:pt x="264" y="0"/>
                    <a:pt x="264" y="0"/>
                  </a:cubicBezTo>
                  <a:cubicBezTo>
                    <a:pt x="277" y="0"/>
                    <a:pt x="288" y="11"/>
                    <a:pt x="288" y="25"/>
                  </a:cubicBezTo>
                  <a:cubicBezTo>
                    <a:pt x="288" y="203"/>
                    <a:pt x="288" y="203"/>
                    <a:pt x="288" y="203"/>
                  </a:cubicBezTo>
                  <a:cubicBezTo>
                    <a:pt x="288" y="217"/>
                    <a:pt x="277" y="228"/>
                    <a:pt x="264" y="228"/>
                  </a:cubicBezTo>
                  <a:close/>
                  <a:moveTo>
                    <a:pt x="24" y="12"/>
                  </a:moveTo>
                  <a:cubicBezTo>
                    <a:pt x="17" y="12"/>
                    <a:pt x="12" y="18"/>
                    <a:pt x="12" y="25"/>
                  </a:cubicBezTo>
                  <a:cubicBezTo>
                    <a:pt x="12" y="203"/>
                    <a:pt x="12" y="203"/>
                    <a:pt x="12" y="203"/>
                  </a:cubicBezTo>
                  <a:cubicBezTo>
                    <a:pt x="12" y="210"/>
                    <a:pt x="17" y="216"/>
                    <a:pt x="24" y="216"/>
                  </a:cubicBezTo>
                  <a:cubicBezTo>
                    <a:pt x="264" y="216"/>
                    <a:pt x="264" y="216"/>
                    <a:pt x="264" y="216"/>
                  </a:cubicBezTo>
                  <a:cubicBezTo>
                    <a:pt x="270" y="216"/>
                    <a:pt x="276" y="210"/>
                    <a:pt x="276" y="203"/>
                  </a:cubicBezTo>
                  <a:cubicBezTo>
                    <a:pt x="276" y="25"/>
                    <a:pt x="276" y="25"/>
                    <a:pt x="276" y="25"/>
                  </a:cubicBezTo>
                  <a:cubicBezTo>
                    <a:pt x="276" y="18"/>
                    <a:pt x="270" y="12"/>
                    <a:pt x="264" y="12"/>
                  </a:cubicBezTo>
                  <a:lnTo>
                    <a:pt x="24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3517" y="3378"/>
              <a:ext cx="266" cy="17"/>
            </a:xfrm>
            <a:custGeom>
              <a:avLst/>
              <a:gdLst/>
              <a:ahLst/>
              <a:cxnLst/>
              <a:rect l="l" t="t" r="r" b="b"/>
              <a:pathLst>
                <a:path w="180" h="12" extrusionOk="0">
                  <a:moveTo>
                    <a:pt x="17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177" y="0"/>
                    <a:pt x="180" y="3"/>
                    <a:pt x="180" y="6"/>
                  </a:cubicBezTo>
                  <a:cubicBezTo>
                    <a:pt x="180" y="10"/>
                    <a:pt x="177" y="12"/>
                    <a:pt x="174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3632" y="3342"/>
              <a:ext cx="18" cy="53"/>
            </a:xfrm>
            <a:custGeom>
              <a:avLst/>
              <a:gdLst/>
              <a:ahLst/>
              <a:cxnLst/>
              <a:rect l="l" t="t" r="r" b="b"/>
              <a:pathLst>
                <a:path w="12" h="36" extrusionOk="0">
                  <a:moveTo>
                    <a:pt x="6" y="36"/>
                  </a:moveTo>
                  <a:cubicBezTo>
                    <a:pt x="2" y="36"/>
                    <a:pt x="0" y="34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30"/>
                    <a:pt x="12" y="30"/>
                    <a:pt x="12" y="30"/>
                  </a:cubicBezTo>
                  <a:cubicBezTo>
                    <a:pt x="12" y="34"/>
                    <a:pt x="9" y="36"/>
                    <a:pt x="6" y="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3632" y="3298"/>
              <a:ext cx="0" cy="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3446" y="3271"/>
              <a:ext cx="300" cy="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00" tIns="45700" rIns="91400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4"/>
          <p:cNvSpPr/>
          <p:nvPr/>
        </p:nvSpPr>
        <p:spPr>
          <a:xfrm>
            <a:off x="453625" y="3167700"/>
            <a:ext cx="3666900" cy="4371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КАК ФОРМИРУЕТСЯ ОЦЕНКА?</a:t>
            </a:r>
            <a:endParaRPr dirty="0">
              <a:solidFill>
                <a:srgbClr val="A41A46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488597-2891-3E7F-162C-68268BE33800}"/>
              </a:ext>
            </a:extLst>
          </p:cNvPr>
          <p:cNvSpPr txBox="1"/>
          <p:nvPr/>
        </p:nvSpPr>
        <p:spPr>
          <a:xfrm>
            <a:off x="2705030" y="267440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A41A46"/>
                </a:solidFill>
                <a:latin typeface="Arial Black"/>
                <a:ea typeface="Arial Black"/>
                <a:cs typeface="Arial Black"/>
                <a:sym typeface="Arial Black"/>
              </a:rPr>
              <a:t>|</a:t>
            </a:r>
            <a:r>
              <a:rPr lang="ru-RU" sz="2000" b="1" dirty="0">
                <a:solidFill>
                  <a:srgbClr val="A41A46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ru-RU" sz="2000" b="1" dirty="0">
                <a:solidFill>
                  <a:schemeClr val="bg1"/>
                </a:solidFill>
                <a:latin typeface="Arial Black"/>
                <a:ea typeface="Arial Black"/>
                <a:cs typeface="Arial Black"/>
                <a:sym typeface="Arial Black"/>
              </a:rPr>
              <a:t>О КУРСЕ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"/>
          <p:cNvSpPr/>
          <p:nvPr/>
        </p:nvSpPr>
        <p:spPr>
          <a:xfrm>
            <a:off x="374704" y="1483910"/>
            <a:ext cx="5226295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66700">
              <a:lnSpc>
                <a:spcPct val="150000"/>
              </a:lnSpc>
              <a:buClr>
                <a:srgbClr val="3F3F3F"/>
              </a:buClr>
              <a:buSzPts val="1300"/>
              <a:buFont typeface="Montserrat"/>
              <a:buChar char="●"/>
            </a:pPr>
            <a:r>
              <a:rPr lang="ru-RU" sz="1200" dirty="0">
                <a:latin typeface="+mj-lt"/>
                <a:cs typeface="Calibri" panose="020F0502020204030204" pitchFamily="34" charset="0"/>
              </a:rPr>
              <a:t>Теория вероятностей, базовая статистика и  многомерный мат. анализ.</a:t>
            </a:r>
          </a:p>
          <a:p>
            <a:pPr marL="285750" lvl="0" indent="-266700">
              <a:lnSpc>
                <a:spcPct val="150000"/>
              </a:lnSpc>
              <a:buClr>
                <a:srgbClr val="3F3F3F"/>
              </a:buClr>
              <a:buSzPts val="1300"/>
              <a:buFont typeface="Montserrat"/>
              <a:buChar char="●"/>
            </a:pPr>
            <a:r>
              <a:rPr lang="ru-RU" sz="1200" dirty="0">
                <a:latin typeface="+mj-lt"/>
                <a:cs typeface="Calibri" panose="020F0502020204030204" pitchFamily="34" charset="0"/>
              </a:rPr>
              <a:t>Основы машинного обучения и глубокого обучения.</a:t>
            </a:r>
            <a:endParaRPr lang="en-US" sz="1200" dirty="0">
              <a:latin typeface="+mj-lt"/>
              <a:cs typeface="Calibri" panose="020F0502020204030204" pitchFamily="34" charset="0"/>
            </a:endParaRPr>
          </a:p>
          <a:p>
            <a:pPr marL="285750" lvl="0" indent="-266700">
              <a:lnSpc>
                <a:spcPct val="150000"/>
              </a:lnSpc>
              <a:buClr>
                <a:srgbClr val="3F3F3F"/>
              </a:buClr>
              <a:buSzPts val="1300"/>
              <a:buFont typeface="Montserrat"/>
              <a:buChar char="●"/>
            </a:pPr>
            <a:r>
              <a:rPr lang="en-US" sz="1200" dirty="0">
                <a:latin typeface="+mj-lt"/>
                <a:cs typeface="Calibri" panose="020F0502020204030204" pitchFamily="34" charset="0"/>
              </a:rPr>
              <a:t>Python, </a:t>
            </a:r>
            <a:r>
              <a:rPr lang="en-US" sz="1200" dirty="0" err="1">
                <a:latin typeface="+mj-lt"/>
                <a:cs typeface="Calibri" panose="020F0502020204030204" pitchFamily="34" charset="0"/>
              </a:rPr>
              <a:t>PyTorch</a:t>
            </a:r>
            <a:r>
              <a:rPr lang="en-US" sz="1200" dirty="0">
                <a:latin typeface="+mj-lt"/>
                <a:cs typeface="Calibri" panose="020F0502020204030204" pitchFamily="34" charset="0"/>
              </a:rPr>
              <a:t> (GPU </a:t>
            </a:r>
            <a:r>
              <a:rPr lang="ru-RU" sz="1200" dirty="0">
                <a:latin typeface="+mj-lt"/>
                <a:cs typeface="Calibri" panose="020F0502020204030204" pitchFamily="34" charset="0"/>
              </a:rPr>
              <a:t>основы).</a:t>
            </a:r>
            <a:endParaRPr sz="1300" dirty="0">
              <a:latin typeface="+mj-lt"/>
              <a:ea typeface="Montserrat"/>
              <a:cs typeface="Calibri" panose="020F0502020204030204" pitchFamily="34" charset="0"/>
              <a:sym typeface="Montserrat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260400" y="3354234"/>
            <a:ext cx="5274000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ru-RU" sz="1300" dirty="0">
                <a:solidFill>
                  <a:srgbClr val="041A35"/>
                </a:solidFill>
                <a:latin typeface="+mj-lt"/>
                <a:ea typeface="Montserrat"/>
                <a:cs typeface="Montserrat"/>
                <a:sym typeface="Montserrat"/>
              </a:rPr>
              <a:t>Курс математически нагружен.</a:t>
            </a:r>
            <a:endParaRPr sz="1300" dirty="0">
              <a:solidFill>
                <a:srgbClr val="041A35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ru-RU" sz="1300" dirty="0">
                <a:solidFill>
                  <a:srgbClr val="041A35"/>
                </a:solidFill>
                <a:latin typeface="+mj-lt"/>
                <a:ea typeface="Montserrat"/>
                <a:cs typeface="Montserrat"/>
                <a:sym typeface="Montserrat"/>
              </a:rPr>
              <a:t>Курс постоянно развивается.</a:t>
            </a:r>
            <a:endParaRPr sz="1300" dirty="0">
              <a:solidFill>
                <a:srgbClr val="041A35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57200" marR="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Char char="●"/>
            </a:pPr>
            <a:r>
              <a:rPr lang="ru-RU" sz="1300" dirty="0">
                <a:solidFill>
                  <a:srgbClr val="041A35"/>
                </a:solidFill>
                <a:latin typeface="+mj-lt"/>
                <a:ea typeface="Montserrat"/>
                <a:cs typeface="Montserrat"/>
                <a:sym typeface="Montserrat"/>
              </a:rPr>
              <a:t>Любой фидбек, особенно негативный, приветствуется!</a:t>
            </a:r>
            <a:endParaRPr sz="1300" dirty="0">
              <a:solidFill>
                <a:srgbClr val="041A35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041A35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374700" y="1046800"/>
            <a:ext cx="5226300" cy="4371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ЧТО НУЖНО ЗНАТЬ?</a:t>
            </a:r>
            <a:endParaRPr sz="1600" dirty="0">
              <a:solidFill>
                <a:srgbClr val="A41A46"/>
              </a:solidFill>
              <a:latin typeface="+mj-lt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374700" y="2917134"/>
            <a:ext cx="5274000" cy="4371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КЛЮЧЕВЫЕ МОМЕНТЫ</a:t>
            </a:r>
            <a:endParaRPr sz="1600" dirty="0">
              <a:solidFill>
                <a:srgbClr val="A41A46"/>
              </a:solidFill>
              <a:latin typeface="+mj-lt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29" name="Google Shape;22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66690" y="2952440"/>
            <a:ext cx="298987" cy="298987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5"/>
          <p:cNvSpPr/>
          <p:nvPr/>
        </p:nvSpPr>
        <p:spPr>
          <a:xfrm>
            <a:off x="7566690" y="2339431"/>
            <a:ext cx="3800700" cy="4371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РОМАН ИСАЧЕНКО</a:t>
            </a:r>
            <a:endParaRPr dirty="0"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7833461" y="2869262"/>
            <a:ext cx="3884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 err="1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telegram</a:t>
            </a:r>
            <a:r>
              <a:rPr lang="ru-RU" sz="1300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: @</a:t>
            </a:r>
            <a:r>
              <a:rPr lang="ru-RU" sz="1300" dirty="0" err="1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roman_isachenko</a:t>
            </a:r>
            <a:endParaRPr sz="1300" dirty="0">
              <a:solidFill>
                <a:schemeClr val="dk1"/>
              </a:solidFill>
              <a:highlight>
                <a:srgbClr val="00FFFF"/>
              </a:highlight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2498051" y="5327366"/>
            <a:ext cx="6513816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>
                <a:solidFill>
                  <a:schemeClr val="tx1"/>
                </a:solidFill>
                <a:latin typeface="+mj-lt"/>
                <a:ea typeface="Arial Black"/>
                <a:cs typeface="Arial Black"/>
                <a:sym typeface="Arial Black"/>
              </a:rPr>
              <a:t>ДО ВСТРЕЧИ НА КУРСЕ!</a:t>
            </a:r>
            <a:endParaRPr sz="3600" dirty="0">
              <a:solidFill>
                <a:schemeClr val="tx1"/>
              </a:solidFill>
              <a:latin typeface="+mj-lt"/>
              <a:ea typeface="Arial Black"/>
              <a:cs typeface="Arial Black"/>
              <a:sym typeface="Arial Black"/>
            </a:endParaRPr>
          </a:p>
        </p:txBody>
      </p:sp>
      <p:sp>
        <p:nvSpPr>
          <p:cNvPr id="233" name="Google Shape;233;p5"/>
          <p:cNvSpPr txBox="1"/>
          <p:nvPr/>
        </p:nvSpPr>
        <p:spPr>
          <a:xfrm>
            <a:off x="6171650" y="1511550"/>
            <a:ext cx="38007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300" dirty="0">
                <a:solidFill>
                  <a:srgbClr val="041A35"/>
                </a:solidFill>
                <a:latin typeface="+mj-lt"/>
                <a:ea typeface="Montserrat"/>
                <a:cs typeface="Montserrat"/>
                <a:sym typeface="Montserrat"/>
                <a:hlinkClick r:id="rId4"/>
              </a:rPr>
              <a:t>https://github.com/r-isachenko/2026-DGM-AIMasters-course</a:t>
            </a:r>
            <a:r>
              <a:rPr lang="ru-RU" sz="1300" dirty="0">
                <a:solidFill>
                  <a:srgbClr val="041A35"/>
                </a:solidFill>
                <a:latin typeface="+mj-lt"/>
                <a:ea typeface="Montserrat"/>
                <a:cs typeface="Montserrat"/>
                <a:sym typeface="Montserrat"/>
              </a:rPr>
              <a:t> </a:t>
            </a:r>
            <a:endParaRPr lang="en-US" sz="1300" dirty="0">
              <a:solidFill>
                <a:srgbClr val="041A35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6200225" y="1046800"/>
            <a:ext cx="5226300" cy="43710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REPO</a:t>
            </a:r>
            <a:r>
              <a:rPr lang="ru-RU" sz="1600" dirty="0">
                <a:solidFill>
                  <a:srgbClr val="A41A46"/>
                </a:solidFill>
                <a:latin typeface="+mj-lt"/>
                <a:ea typeface="Arial Black"/>
                <a:cs typeface="Arial Black"/>
                <a:sym typeface="Arial Black"/>
              </a:rPr>
              <a:t>:</a:t>
            </a:r>
            <a:endParaRPr sz="1600" dirty="0">
              <a:solidFill>
                <a:srgbClr val="A41A46"/>
              </a:solidFill>
              <a:latin typeface="+mj-lt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0AD010-4597-E548-2189-DCB68C06C633}"/>
              </a:ext>
            </a:extLst>
          </p:cNvPr>
          <p:cNvSpPr txBox="1"/>
          <p:nvPr/>
        </p:nvSpPr>
        <p:spPr>
          <a:xfrm>
            <a:off x="2705030" y="267440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A41A46"/>
                </a:solidFill>
                <a:latin typeface="Arial Black"/>
                <a:ea typeface="Arial Black"/>
                <a:cs typeface="Arial Black"/>
                <a:sym typeface="Arial Black"/>
              </a:rPr>
              <a:t>|</a:t>
            </a:r>
            <a:r>
              <a:rPr lang="ru-RU" sz="2000" b="1" dirty="0">
                <a:solidFill>
                  <a:srgbClr val="A41A46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ru-RU" sz="2000" b="1" dirty="0">
                <a:solidFill>
                  <a:schemeClr val="bg1"/>
                </a:solidFill>
                <a:latin typeface="Arial Black"/>
                <a:ea typeface="Arial Black"/>
                <a:cs typeface="Arial Black"/>
                <a:sym typeface="Arial Black"/>
              </a:rPr>
              <a:t>И ЕЩЁ..</a:t>
            </a:r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1EF96F-9E91-7035-E2AC-8C648360D3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638" y="2245407"/>
            <a:ext cx="1343453" cy="1343453"/>
          </a:xfrm>
          <a:prstGeom prst="ellipse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621</Words>
  <Application>Microsoft Macintosh PowerPoint</Application>
  <PresentationFormat>Widescreen</PresentationFormat>
  <Paragraphs>95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Montserrat</vt:lpstr>
      <vt:lpstr>Arial Black</vt:lpstr>
      <vt:lpstr>Arial</vt:lpstr>
      <vt:lpstr>Calibri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Рудавина Варвара</dc:creator>
  <cp:lastModifiedBy>Roman Isachenko</cp:lastModifiedBy>
  <cp:revision>19</cp:revision>
  <dcterms:created xsi:type="dcterms:W3CDTF">2021-01-27T12:15:32Z</dcterms:created>
  <dcterms:modified xsi:type="dcterms:W3CDTF">2026-01-24T14:30:22Z</dcterms:modified>
</cp:coreProperties>
</file>